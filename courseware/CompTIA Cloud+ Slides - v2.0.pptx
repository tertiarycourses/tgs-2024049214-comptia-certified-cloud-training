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13.xml" ContentType="application/vnd.openxmlformats-officedocument.presentationml.slide+xml"/>
  <Override PartName="/ppt/slides/slide414.xml" ContentType="application/vnd.openxmlformats-officedocument.presentationml.slide+xml"/>
  <Override PartName="/ppt/slides/slide415.xml" ContentType="application/vnd.openxmlformats-officedocument.presentationml.slide+xml"/>
  <Override PartName="/ppt/slides/slide416.xml" ContentType="application/vnd.openxmlformats-officedocument.presentationml.slide+xml"/>
  <Override PartName="/ppt/slides/slide417.xml" ContentType="application/vnd.openxmlformats-officedocument.presentationml.slide+xml"/>
  <Override PartName="/ppt/slides/slide418.xml" ContentType="application/vnd.openxmlformats-officedocument.presentationml.slide+xml"/>
  <Override PartName="/ppt/slides/slide419.xml" ContentType="application/vnd.openxmlformats-officedocument.presentationml.slide+xml"/>
  <Override PartName="/ppt/slides/slide42.xml" ContentType="application/vnd.openxmlformats-officedocument.presentationml.slide+xml"/>
  <Override PartName="/ppt/slides/slide420.xml" ContentType="application/vnd.openxmlformats-officedocument.presentationml.slide+xml"/>
  <Override PartName="/ppt/slides/slide421.xml" ContentType="application/vnd.openxmlformats-officedocument.presentationml.slide+xml"/>
  <Override PartName="/ppt/slides/slide422.xml" ContentType="application/vnd.openxmlformats-officedocument.presentationml.slide+xml"/>
  <Override PartName="/ppt/slides/slide423.xml" ContentType="application/vnd.openxmlformats-officedocument.presentationml.slide+xml"/>
  <Override PartName="/ppt/slides/slide424.xml" ContentType="application/vnd.openxmlformats-officedocument.presentationml.slide+xml"/>
  <Override PartName="/ppt/slides/slide425.xml" ContentType="application/vnd.openxmlformats-officedocument.presentationml.slide+xml"/>
  <Override PartName="/ppt/slides/slide426.xml" ContentType="application/vnd.openxmlformats-officedocument.presentationml.slide+xml"/>
  <Override PartName="/ppt/slides/slide427.xml" ContentType="application/vnd.openxmlformats-officedocument.presentationml.slide+xml"/>
  <Override PartName="/ppt/slides/slide428.xml" ContentType="application/vnd.openxmlformats-officedocument.presentationml.slide+xml"/>
  <Override PartName="/ppt/slides/slide429.xml" ContentType="application/vnd.openxmlformats-officedocument.presentationml.slide+xml"/>
  <Override PartName="/ppt/slides/slide43.xml" ContentType="application/vnd.openxmlformats-officedocument.presentationml.slide+xml"/>
  <Override PartName="/ppt/slides/slide430.xml" ContentType="application/vnd.openxmlformats-officedocument.presentationml.slide+xml"/>
  <Override PartName="/ppt/slides/slide431.xml" ContentType="application/vnd.openxmlformats-officedocument.presentationml.slide+xml"/>
  <Override PartName="/ppt/slides/slide432.xml" ContentType="application/vnd.openxmlformats-officedocument.presentationml.slide+xml"/>
  <Override PartName="/ppt/slides/slide433.xml" ContentType="application/vnd.openxmlformats-officedocument.presentationml.slide+xml"/>
  <Override PartName="/ppt/slides/slide434.xml" ContentType="application/vnd.openxmlformats-officedocument.presentationml.slide+xml"/>
  <Override PartName="/ppt/slides/slide435.xml" ContentType="application/vnd.openxmlformats-officedocument.presentationml.slide+xml"/>
  <Override PartName="/ppt/slides/slide436.xml" ContentType="application/vnd.openxmlformats-officedocument.presentationml.slide+xml"/>
  <Override PartName="/ppt/slides/slide437.xml" ContentType="application/vnd.openxmlformats-officedocument.presentationml.slide+xml"/>
  <Override PartName="/ppt/slides/slide438.xml" ContentType="application/vnd.openxmlformats-officedocument.presentationml.slide+xml"/>
  <Override PartName="/ppt/slides/slide439.xml" ContentType="application/vnd.openxmlformats-officedocument.presentationml.slide+xml"/>
  <Override PartName="/ppt/slides/slide44.xml" ContentType="application/vnd.openxmlformats-officedocument.presentationml.slide+xml"/>
  <Override PartName="/ppt/slides/slide440.xml" ContentType="application/vnd.openxmlformats-officedocument.presentationml.slide+xml"/>
  <Override PartName="/ppt/slides/slide441.xml" ContentType="application/vnd.openxmlformats-officedocument.presentationml.slide+xml"/>
  <Override PartName="/ppt/slides/slide442.xml" ContentType="application/vnd.openxmlformats-officedocument.presentationml.slide+xml"/>
  <Override PartName="/ppt/slides/slide443.xml" ContentType="application/vnd.openxmlformats-officedocument.presentationml.slide+xml"/>
  <Override PartName="/ppt/slides/slide444.xml" ContentType="application/vnd.openxmlformats-officedocument.presentationml.slide+xml"/>
  <Override PartName="/ppt/slides/slide445.xml" ContentType="application/vnd.openxmlformats-officedocument.presentationml.slide+xml"/>
  <Override PartName="/ppt/slides/slide446.xml" ContentType="application/vnd.openxmlformats-officedocument.presentationml.slide+xml"/>
  <Override PartName="/ppt/slides/slide447.xml" ContentType="application/vnd.openxmlformats-officedocument.presentationml.slide+xml"/>
  <Override PartName="/ppt/slides/slide448.xml" ContentType="application/vnd.openxmlformats-officedocument.presentationml.slide+xml"/>
  <Override PartName="/ppt/slides/slide449.xml" ContentType="application/vnd.openxmlformats-officedocument.presentationml.slide+xml"/>
  <Override PartName="/ppt/slides/slide45.xml" ContentType="application/vnd.openxmlformats-officedocument.presentationml.slide+xml"/>
  <Override PartName="/ppt/slides/slide450.xml" ContentType="application/vnd.openxmlformats-officedocument.presentationml.slide+xml"/>
  <Override PartName="/ppt/slides/slide451.xml" ContentType="application/vnd.openxmlformats-officedocument.presentationml.slide+xml"/>
  <Override PartName="/ppt/slides/slide452.xml" ContentType="application/vnd.openxmlformats-officedocument.presentationml.slide+xml"/>
  <Override PartName="/ppt/slides/slide453.xml" ContentType="application/vnd.openxmlformats-officedocument.presentationml.slide+xml"/>
  <Override PartName="/ppt/slides/slide454.xml" ContentType="application/vnd.openxmlformats-officedocument.presentationml.slide+xml"/>
  <Override PartName="/ppt/slides/slide455.xml" ContentType="application/vnd.openxmlformats-officedocument.presentationml.slide+xml"/>
  <Override PartName="/ppt/slides/slide456.xml" ContentType="application/vnd.openxmlformats-officedocument.presentationml.slide+xml"/>
  <Override PartName="/ppt/slides/slide457.xml" ContentType="application/vnd.openxmlformats-officedocument.presentationml.slide+xml"/>
  <Override PartName="/ppt/slides/slide458.xml" ContentType="application/vnd.openxmlformats-officedocument.presentationml.slide+xml"/>
  <Override PartName="/ppt/slides/slide459.xml" ContentType="application/vnd.openxmlformats-officedocument.presentationml.slide+xml"/>
  <Override PartName="/ppt/slides/slide46.xml" ContentType="application/vnd.openxmlformats-officedocument.presentationml.slide+xml"/>
  <Override PartName="/ppt/slides/slide460.xml" ContentType="application/vnd.openxmlformats-officedocument.presentationml.slide+xml"/>
  <Override PartName="/ppt/slides/slide461.xml" ContentType="application/vnd.openxmlformats-officedocument.presentationml.slide+xml"/>
  <Override PartName="/ppt/slides/slide462.xml" ContentType="application/vnd.openxmlformats-officedocument.presentationml.slide+xml"/>
  <Override PartName="/ppt/slides/slide463.xml" ContentType="application/vnd.openxmlformats-officedocument.presentationml.slide+xml"/>
  <Override PartName="/ppt/slides/slide464.xml" ContentType="application/vnd.openxmlformats-officedocument.presentationml.slide+xml"/>
  <Override PartName="/ppt/slides/slide465.xml" ContentType="application/vnd.openxmlformats-officedocument.presentationml.slide+xml"/>
  <Override PartName="/ppt/slides/slide466.xml" ContentType="application/vnd.openxmlformats-officedocument.presentationml.slide+xml"/>
  <Override PartName="/ppt/slides/slide467.xml" ContentType="application/vnd.openxmlformats-officedocument.presentationml.slide+xml"/>
  <Override PartName="/ppt/slides/slide468.xml" ContentType="application/vnd.openxmlformats-officedocument.presentationml.slide+xml"/>
  <Override PartName="/ppt/slides/slide469.xml" ContentType="application/vnd.openxmlformats-officedocument.presentationml.slide+xml"/>
  <Override PartName="/ppt/slides/slide47.xml" ContentType="application/vnd.openxmlformats-officedocument.presentationml.slide+xml"/>
  <Override PartName="/ppt/slides/slide470.xml" ContentType="application/vnd.openxmlformats-officedocument.presentationml.slide+xml"/>
  <Override PartName="/ppt/slides/slide471.xml" ContentType="application/vnd.openxmlformats-officedocument.presentationml.slide+xml"/>
  <Override PartName="/ppt/slides/slide472.xml" ContentType="application/vnd.openxmlformats-officedocument.presentationml.slide+xml"/>
  <Override PartName="/ppt/slides/slide473.xml" ContentType="application/vnd.openxmlformats-officedocument.presentationml.slide+xml"/>
  <Override PartName="/ppt/slides/slide474.xml" ContentType="application/vnd.openxmlformats-officedocument.presentationml.slide+xml"/>
  <Override PartName="/ppt/slides/slide475.xml" ContentType="application/vnd.openxmlformats-officedocument.presentationml.slide+xml"/>
  <Override PartName="/ppt/slides/slide476.xml" ContentType="application/vnd.openxmlformats-officedocument.presentationml.slide+xml"/>
  <Override PartName="/ppt/slides/slide477.xml" ContentType="application/vnd.openxmlformats-officedocument.presentationml.slide+xml"/>
  <Override PartName="/ppt/slides/slide478.xml" ContentType="application/vnd.openxmlformats-officedocument.presentationml.slide+xml"/>
  <Override PartName="/ppt/slides/slide479.xml" ContentType="application/vnd.openxmlformats-officedocument.presentationml.slide+xml"/>
  <Override PartName="/ppt/slides/slide48.xml" ContentType="application/vnd.openxmlformats-officedocument.presentationml.slide+xml"/>
  <Override PartName="/ppt/slides/slide480.xml" ContentType="application/vnd.openxmlformats-officedocument.presentationml.slide+xml"/>
  <Override PartName="/ppt/slides/slide481.xml" ContentType="application/vnd.openxmlformats-officedocument.presentationml.slide+xml"/>
  <Override PartName="/ppt/slides/slide482.xml" ContentType="application/vnd.openxmlformats-officedocument.presentationml.slide+xml"/>
  <Override PartName="/ppt/slides/slide483.xml" ContentType="application/vnd.openxmlformats-officedocument.presentationml.slide+xml"/>
  <Override PartName="/ppt/slides/slide484.xml" ContentType="application/vnd.openxmlformats-officedocument.presentationml.slide+xml"/>
  <Override PartName="/ppt/slides/slide485.xml" ContentType="application/vnd.openxmlformats-officedocument.presentationml.slide+xml"/>
  <Override PartName="/ppt/slides/slide486.xml" ContentType="application/vnd.openxmlformats-officedocument.presentationml.slide+xml"/>
  <Override PartName="/ppt/slides/slide487.xml" ContentType="application/vnd.openxmlformats-officedocument.presentationml.slide+xml"/>
  <Override PartName="/ppt/slides/slide488.xml" ContentType="application/vnd.openxmlformats-officedocument.presentationml.slide+xml"/>
  <Override PartName="/ppt/slides/slide489.xml" ContentType="application/vnd.openxmlformats-officedocument.presentationml.slide+xml"/>
  <Override PartName="/ppt/slides/slide49.xml" ContentType="application/vnd.openxmlformats-officedocument.presentationml.slide+xml"/>
  <Override PartName="/ppt/slides/slide490.xml" ContentType="application/vnd.openxmlformats-officedocument.presentationml.slide+xml"/>
  <Override PartName="/ppt/slides/slide491.xml" ContentType="application/vnd.openxmlformats-officedocument.presentationml.slide+xml"/>
  <Override PartName="/ppt/slides/slide492.xml" ContentType="application/vnd.openxmlformats-officedocument.presentationml.slide+xml"/>
  <Override PartName="/ppt/slides/slide493.xml" ContentType="application/vnd.openxmlformats-officedocument.presentationml.slide+xml"/>
  <Override PartName="/ppt/slides/slide494.xml" ContentType="application/vnd.openxmlformats-officedocument.presentationml.slide+xml"/>
  <Override PartName="/ppt/slides/slide495.xml" ContentType="application/vnd.openxmlformats-officedocument.presentationml.slide+xml"/>
  <Override PartName="/ppt/slides/slide496.xml" ContentType="application/vnd.openxmlformats-officedocument.presentationml.slide+xml"/>
  <Override PartName="/ppt/slides/slide497.xml" ContentType="application/vnd.openxmlformats-officedocument.presentationml.slide+xml"/>
  <Override PartName="/ppt/slides/slide498.xml" ContentType="application/vnd.openxmlformats-officedocument.presentationml.slide+xml"/>
  <Override PartName="/ppt/slides/slide49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00.xml" ContentType="application/vnd.openxmlformats-officedocument.presentationml.slide+xml"/>
  <Override PartName="/ppt/slides/slide501.xml" ContentType="application/vnd.openxmlformats-officedocument.presentationml.slide+xml"/>
  <Override PartName="/ppt/slides/slide502.xml" ContentType="application/vnd.openxmlformats-officedocument.presentationml.slide+xml"/>
  <Override PartName="/ppt/slides/slide503.xml" ContentType="application/vnd.openxmlformats-officedocument.presentationml.slide+xml"/>
  <Override PartName="/ppt/slides/slide504.xml" ContentType="application/vnd.openxmlformats-officedocument.presentationml.slide+xml"/>
  <Override PartName="/ppt/slides/slide505.xml" ContentType="application/vnd.openxmlformats-officedocument.presentationml.slide+xml"/>
  <Override PartName="/ppt/slides/slide506.xml" ContentType="application/vnd.openxmlformats-officedocument.presentationml.slide+xml"/>
  <Override PartName="/ppt/slides/slide507.xml" ContentType="application/vnd.openxmlformats-officedocument.presentationml.slide+xml"/>
  <Override PartName="/ppt/slides/slide508.xml" ContentType="application/vnd.openxmlformats-officedocument.presentationml.slide+xml"/>
  <Override PartName="/ppt/slides/slide509.xml" ContentType="application/vnd.openxmlformats-officedocument.presentationml.slide+xml"/>
  <Override PartName="/ppt/slides/slide51.xml" ContentType="application/vnd.openxmlformats-officedocument.presentationml.slide+xml"/>
  <Override PartName="/ppt/slides/slide510.xml" ContentType="application/vnd.openxmlformats-officedocument.presentationml.slide+xml"/>
  <Override PartName="/ppt/slides/slide511.xml" ContentType="application/vnd.openxmlformats-officedocument.presentationml.slide+xml"/>
  <Override PartName="/ppt/slides/slide512.xml" ContentType="application/vnd.openxmlformats-officedocument.presentationml.slide+xml"/>
  <Override PartName="/ppt/slides/slide513.xml" ContentType="application/vnd.openxmlformats-officedocument.presentationml.slide+xml"/>
  <Override PartName="/ppt/slides/slide514.xml" ContentType="application/vnd.openxmlformats-officedocument.presentationml.slide+xml"/>
  <Override PartName="/ppt/slides/slide515.xml" ContentType="application/vnd.openxmlformats-officedocument.presentationml.slide+xml"/>
  <Override PartName="/ppt/slides/slide516.xml" ContentType="application/vnd.openxmlformats-officedocument.presentationml.slide+xml"/>
  <Override PartName="/ppt/slides/slide517.xml" ContentType="application/vnd.openxmlformats-officedocument.presentationml.slide+xml"/>
  <Override PartName="/ppt/slides/slide518.xml" ContentType="application/vnd.openxmlformats-officedocument.presentationml.slide+xml"/>
  <Override PartName="/ppt/slides/slide519.xml" ContentType="application/vnd.openxmlformats-officedocument.presentationml.slide+xml"/>
  <Override PartName="/ppt/slides/slide52.xml" ContentType="application/vnd.openxmlformats-officedocument.presentationml.slide+xml"/>
  <Override PartName="/ppt/slides/slide520.xml" ContentType="application/vnd.openxmlformats-officedocument.presentationml.slide+xml"/>
  <Override PartName="/ppt/slides/slide521.xml" ContentType="application/vnd.openxmlformats-officedocument.presentationml.slide+xml"/>
  <Override PartName="/ppt/slides/slide522.xml" ContentType="application/vnd.openxmlformats-officedocument.presentationml.slide+xml"/>
  <Override PartName="/ppt/slides/slide523.xml" ContentType="application/vnd.openxmlformats-officedocument.presentationml.slide+xml"/>
  <Override PartName="/ppt/slides/slide524.xml" ContentType="application/vnd.openxmlformats-officedocument.presentationml.slide+xml"/>
  <Override PartName="/ppt/slides/slide525.xml" ContentType="application/vnd.openxmlformats-officedocument.presentationml.slide+xml"/>
  <Override PartName="/ppt/slides/slide526.xml" ContentType="application/vnd.openxmlformats-officedocument.presentationml.slide+xml"/>
  <Override PartName="/ppt/slides/slide527.xml" ContentType="application/vnd.openxmlformats-officedocument.presentationml.slide+xml"/>
  <Override PartName="/ppt/slides/slide528.xml" ContentType="application/vnd.openxmlformats-officedocument.presentationml.slide+xml"/>
  <Override PartName="/ppt/slides/slide529.xml" ContentType="application/vnd.openxmlformats-officedocument.presentationml.slide+xml"/>
  <Override PartName="/ppt/slides/slide53.xml" ContentType="application/vnd.openxmlformats-officedocument.presentationml.slide+xml"/>
  <Override PartName="/ppt/slides/slide530.xml" ContentType="application/vnd.openxmlformats-officedocument.presentationml.slide+xml"/>
  <Override PartName="/ppt/slides/slide531.xml" ContentType="application/vnd.openxmlformats-officedocument.presentationml.slide+xml"/>
  <Override PartName="/ppt/slides/slide532.xml" ContentType="application/vnd.openxmlformats-officedocument.presentationml.slide+xml"/>
  <Override PartName="/ppt/slides/slide533.xml" ContentType="application/vnd.openxmlformats-officedocument.presentationml.slide+xml"/>
  <Override PartName="/ppt/slides/slide534.xml" ContentType="application/vnd.openxmlformats-officedocument.presentationml.slide+xml"/>
  <Override PartName="/ppt/slides/slide535.xml" ContentType="application/vnd.openxmlformats-officedocument.presentationml.slide+xml"/>
  <Override PartName="/ppt/slides/slide536.xml" ContentType="application/vnd.openxmlformats-officedocument.presentationml.slide+xml"/>
  <Override PartName="/ppt/slides/slide537.xml" ContentType="application/vnd.openxmlformats-officedocument.presentationml.slide+xml"/>
  <Override PartName="/ppt/slides/slide538.xml" ContentType="application/vnd.openxmlformats-officedocument.presentationml.slide+xml"/>
  <Override PartName="/ppt/slides/slide539.xml" ContentType="application/vnd.openxmlformats-officedocument.presentationml.slide+xml"/>
  <Override PartName="/ppt/slides/slide54.xml" ContentType="application/vnd.openxmlformats-officedocument.presentationml.slide+xml"/>
  <Override PartName="/ppt/slides/slide540.xml" ContentType="application/vnd.openxmlformats-officedocument.presentationml.slide+xml"/>
  <Override PartName="/ppt/slides/slide541.xml" ContentType="application/vnd.openxmlformats-officedocument.presentationml.slide+xml"/>
  <Override PartName="/ppt/slides/slide542.xml" ContentType="application/vnd.openxmlformats-officedocument.presentationml.slide+xml"/>
  <Override PartName="/ppt/slides/slide543.xml" ContentType="application/vnd.openxmlformats-officedocument.presentationml.slide+xml"/>
  <Override PartName="/ppt/slides/slide544.xml" ContentType="application/vnd.openxmlformats-officedocument.presentationml.slide+xml"/>
  <Override PartName="/ppt/slides/slide545.xml" ContentType="application/vnd.openxmlformats-officedocument.presentationml.slide+xml"/>
  <Override PartName="/ppt/slides/slide546.xml" ContentType="application/vnd.openxmlformats-officedocument.presentationml.slide+xml"/>
  <Override PartName="/ppt/slides/slide547.xml" ContentType="application/vnd.openxmlformats-officedocument.presentationml.slide+xml"/>
  <Override PartName="/ppt/slides/slide548.xml" ContentType="application/vnd.openxmlformats-officedocument.presentationml.slide+xml"/>
  <Override PartName="/ppt/slides/slide549.xml" ContentType="application/vnd.openxmlformats-officedocument.presentationml.slide+xml"/>
  <Override PartName="/ppt/slides/slide55.xml" ContentType="application/vnd.openxmlformats-officedocument.presentationml.slide+xml"/>
  <Override PartName="/ppt/slides/slide550.xml" ContentType="application/vnd.openxmlformats-officedocument.presentationml.slide+xml"/>
  <Override PartName="/ppt/slides/slide551.xml" ContentType="application/vnd.openxmlformats-officedocument.presentationml.slide+xml"/>
  <Override PartName="/ppt/slides/slide552.xml" ContentType="application/vnd.openxmlformats-officedocument.presentationml.slide+xml"/>
  <Override PartName="/ppt/slides/slide553.xml" ContentType="application/vnd.openxmlformats-officedocument.presentationml.slide+xml"/>
  <Override PartName="/ppt/slides/slide554.xml" ContentType="application/vnd.openxmlformats-officedocument.presentationml.slide+xml"/>
  <Override PartName="/ppt/slides/slide555.xml" ContentType="application/vnd.openxmlformats-officedocument.presentationml.slide+xml"/>
  <Override PartName="/ppt/slides/slide556.xml" ContentType="application/vnd.openxmlformats-officedocument.presentationml.slide+xml"/>
  <Override PartName="/ppt/slides/slide557.xml" ContentType="application/vnd.openxmlformats-officedocument.presentationml.slide+xml"/>
  <Override PartName="/ppt/slides/slide558.xml" ContentType="application/vnd.openxmlformats-officedocument.presentationml.slide+xml"/>
  <Override PartName="/ppt/slides/slide559.xml" ContentType="application/vnd.openxmlformats-officedocument.presentationml.slide+xml"/>
  <Override PartName="/ppt/slides/slide56.xml" ContentType="application/vnd.openxmlformats-officedocument.presentationml.slide+xml"/>
  <Override PartName="/ppt/slides/slide560.xml" ContentType="application/vnd.openxmlformats-officedocument.presentationml.slide+xml"/>
  <Override PartName="/ppt/slides/slide561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  <p:sldId id="668" r:id="rId419"/>
    <p:sldId id="669" r:id="rId420"/>
    <p:sldId id="670" r:id="rId421"/>
    <p:sldId id="671" r:id="rId422"/>
    <p:sldId id="672" r:id="rId423"/>
    <p:sldId id="673" r:id="rId424"/>
    <p:sldId id="674" r:id="rId425"/>
    <p:sldId id="675" r:id="rId426"/>
    <p:sldId id="676" r:id="rId427"/>
    <p:sldId id="677" r:id="rId428"/>
    <p:sldId id="678" r:id="rId429"/>
    <p:sldId id="679" r:id="rId430"/>
    <p:sldId id="680" r:id="rId431"/>
    <p:sldId id="681" r:id="rId432"/>
    <p:sldId id="682" r:id="rId433"/>
    <p:sldId id="683" r:id="rId434"/>
    <p:sldId id="684" r:id="rId435"/>
    <p:sldId id="685" r:id="rId436"/>
    <p:sldId id="686" r:id="rId437"/>
    <p:sldId id="687" r:id="rId438"/>
    <p:sldId id="688" r:id="rId439"/>
    <p:sldId id="689" r:id="rId440"/>
    <p:sldId id="690" r:id="rId441"/>
    <p:sldId id="691" r:id="rId442"/>
    <p:sldId id="692" r:id="rId443"/>
    <p:sldId id="693" r:id="rId444"/>
    <p:sldId id="694" r:id="rId445"/>
    <p:sldId id="695" r:id="rId446"/>
    <p:sldId id="696" r:id="rId447"/>
    <p:sldId id="697" r:id="rId448"/>
    <p:sldId id="698" r:id="rId449"/>
    <p:sldId id="699" r:id="rId450"/>
    <p:sldId id="700" r:id="rId451"/>
    <p:sldId id="701" r:id="rId452"/>
    <p:sldId id="702" r:id="rId453"/>
    <p:sldId id="703" r:id="rId454"/>
    <p:sldId id="704" r:id="rId455"/>
    <p:sldId id="705" r:id="rId456"/>
    <p:sldId id="706" r:id="rId457"/>
    <p:sldId id="707" r:id="rId458"/>
    <p:sldId id="708" r:id="rId459"/>
    <p:sldId id="709" r:id="rId460"/>
    <p:sldId id="710" r:id="rId461"/>
    <p:sldId id="711" r:id="rId462"/>
    <p:sldId id="712" r:id="rId463"/>
    <p:sldId id="713" r:id="rId464"/>
    <p:sldId id="714" r:id="rId465"/>
    <p:sldId id="715" r:id="rId466"/>
    <p:sldId id="716" r:id="rId467"/>
    <p:sldId id="717" r:id="rId468"/>
    <p:sldId id="718" r:id="rId469"/>
    <p:sldId id="719" r:id="rId470"/>
    <p:sldId id="720" r:id="rId471"/>
    <p:sldId id="721" r:id="rId472"/>
    <p:sldId id="722" r:id="rId473"/>
    <p:sldId id="723" r:id="rId474"/>
    <p:sldId id="724" r:id="rId475"/>
    <p:sldId id="725" r:id="rId476"/>
    <p:sldId id="726" r:id="rId477"/>
    <p:sldId id="727" r:id="rId478"/>
    <p:sldId id="728" r:id="rId479"/>
    <p:sldId id="729" r:id="rId480"/>
    <p:sldId id="730" r:id="rId481"/>
    <p:sldId id="731" r:id="rId482"/>
    <p:sldId id="732" r:id="rId483"/>
    <p:sldId id="733" r:id="rId484"/>
    <p:sldId id="734" r:id="rId485"/>
    <p:sldId id="735" r:id="rId486"/>
    <p:sldId id="736" r:id="rId487"/>
    <p:sldId id="737" r:id="rId488"/>
    <p:sldId id="738" r:id="rId489"/>
    <p:sldId id="739" r:id="rId490"/>
    <p:sldId id="740" r:id="rId491"/>
    <p:sldId id="741" r:id="rId492"/>
    <p:sldId id="742" r:id="rId493"/>
    <p:sldId id="743" r:id="rId494"/>
    <p:sldId id="744" r:id="rId495"/>
    <p:sldId id="745" r:id="rId496"/>
    <p:sldId id="746" r:id="rId497"/>
    <p:sldId id="747" r:id="rId498"/>
    <p:sldId id="748" r:id="rId499"/>
    <p:sldId id="749" r:id="rId500"/>
    <p:sldId id="750" r:id="rId501"/>
    <p:sldId id="751" r:id="rId502"/>
    <p:sldId id="752" r:id="rId503"/>
    <p:sldId id="753" r:id="rId504"/>
    <p:sldId id="754" r:id="rId505"/>
    <p:sldId id="755" r:id="rId506"/>
    <p:sldId id="756" r:id="rId507"/>
    <p:sldId id="757" r:id="rId508"/>
    <p:sldId id="758" r:id="rId509"/>
    <p:sldId id="759" r:id="rId510"/>
    <p:sldId id="760" r:id="rId511"/>
    <p:sldId id="761" r:id="rId512"/>
    <p:sldId id="762" r:id="rId513"/>
    <p:sldId id="763" r:id="rId514"/>
    <p:sldId id="764" r:id="rId515"/>
    <p:sldId id="765" r:id="rId516"/>
    <p:sldId id="766" r:id="rId517"/>
    <p:sldId id="767" r:id="rId518"/>
    <p:sldId id="768" r:id="rId519"/>
    <p:sldId id="769" r:id="rId520"/>
    <p:sldId id="770" r:id="rId521"/>
    <p:sldId id="771" r:id="rId522"/>
    <p:sldId id="772" r:id="rId523"/>
    <p:sldId id="773" r:id="rId524"/>
    <p:sldId id="774" r:id="rId525"/>
    <p:sldId id="775" r:id="rId526"/>
    <p:sldId id="776" r:id="rId527"/>
    <p:sldId id="777" r:id="rId528"/>
    <p:sldId id="778" r:id="rId529"/>
    <p:sldId id="779" r:id="rId530"/>
    <p:sldId id="780" r:id="rId531"/>
    <p:sldId id="781" r:id="rId532"/>
    <p:sldId id="782" r:id="rId533"/>
    <p:sldId id="783" r:id="rId534"/>
    <p:sldId id="784" r:id="rId535"/>
    <p:sldId id="785" r:id="rId536"/>
    <p:sldId id="786" r:id="rId537"/>
    <p:sldId id="787" r:id="rId538"/>
    <p:sldId id="788" r:id="rId539"/>
    <p:sldId id="789" r:id="rId540"/>
    <p:sldId id="790" r:id="rId541"/>
    <p:sldId id="791" r:id="rId542"/>
    <p:sldId id="792" r:id="rId543"/>
    <p:sldId id="793" r:id="rId544"/>
    <p:sldId id="794" r:id="rId545"/>
    <p:sldId id="795" r:id="rId546"/>
    <p:sldId id="796" r:id="rId547"/>
    <p:sldId id="797" r:id="rId548"/>
    <p:sldId id="798" r:id="rId549"/>
    <p:sldId id="799" r:id="rId550"/>
    <p:sldId id="800" r:id="rId551"/>
    <p:sldId id="801" r:id="rId552"/>
    <p:sldId id="802" r:id="rId553"/>
    <p:sldId id="803" r:id="rId554"/>
    <p:sldId id="804" r:id="rId555"/>
    <p:sldId id="805" r:id="rId556"/>
    <p:sldId id="806" r:id="rId557"/>
    <p:sldId id="807" r:id="rId558"/>
    <p:sldId id="808" r:id="rId559"/>
    <p:sldId id="809" r:id="rId560"/>
    <p:sldId id="810" r:id="rId561"/>
    <p:sldId id="811" r:id="rId562"/>
    <p:sldId id="812" r:id="rId563"/>
    <p:sldId id="813" r:id="rId564"/>
    <p:sldId id="814" r:id="rId565"/>
    <p:sldId id="815" r:id="rId566"/>
    <p:sldId id="816" r:id="rId5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Relationship Id="rId419" Type="http://schemas.openxmlformats.org/officeDocument/2006/relationships/slide" Target="slides/slide413.xml"/><Relationship Id="rId420" Type="http://schemas.openxmlformats.org/officeDocument/2006/relationships/slide" Target="slides/slide414.xml"/><Relationship Id="rId421" Type="http://schemas.openxmlformats.org/officeDocument/2006/relationships/slide" Target="slides/slide415.xml"/><Relationship Id="rId422" Type="http://schemas.openxmlformats.org/officeDocument/2006/relationships/slide" Target="slides/slide416.xml"/><Relationship Id="rId423" Type="http://schemas.openxmlformats.org/officeDocument/2006/relationships/slide" Target="slides/slide417.xml"/><Relationship Id="rId424" Type="http://schemas.openxmlformats.org/officeDocument/2006/relationships/slide" Target="slides/slide418.xml"/><Relationship Id="rId425" Type="http://schemas.openxmlformats.org/officeDocument/2006/relationships/slide" Target="slides/slide419.xml"/><Relationship Id="rId426" Type="http://schemas.openxmlformats.org/officeDocument/2006/relationships/slide" Target="slides/slide420.xml"/><Relationship Id="rId427" Type="http://schemas.openxmlformats.org/officeDocument/2006/relationships/slide" Target="slides/slide421.xml"/><Relationship Id="rId428" Type="http://schemas.openxmlformats.org/officeDocument/2006/relationships/slide" Target="slides/slide422.xml"/><Relationship Id="rId429" Type="http://schemas.openxmlformats.org/officeDocument/2006/relationships/slide" Target="slides/slide423.xml"/><Relationship Id="rId430" Type="http://schemas.openxmlformats.org/officeDocument/2006/relationships/slide" Target="slides/slide424.xml"/><Relationship Id="rId431" Type="http://schemas.openxmlformats.org/officeDocument/2006/relationships/slide" Target="slides/slide425.xml"/><Relationship Id="rId432" Type="http://schemas.openxmlformats.org/officeDocument/2006/relationships/slide" Target="slides/slide426.xml"/><Relationship Id="rId433" Type="http://schemas.openxmlformats.org/officeDocument/2006/relationships/slide" Target="slides/slide427.xml"/><Relationship Id="rId434" Type="http://schemas.openxmlformats.org/officeDocument/2006/relationships/slide" Target="slides/slide428.xml"/><Relationship Id="rId435" Type="http://schemas.openxmlformats.org/officeDocument/2006/relationships/slide" Target="slides/slide429.xml"/><Relationship Id="rId436" Type="http://schemas.openxmlformats.org/officeDocument/2006/relationships/slide" Target="slides/slide430.xml"/><Relationship Id="rId437" Type="http://schemas.openxmlformats.org/officeDocument/2006/relationships/slide" Target="slides/slide431.xml"/><Relationship Id="rId438" Type="http://schemas.openxmlformats.org/officeDocument/2006/relationships/slide" Target="slides/slide432.xml"/><Relationship Id="rId439" Type="http://schemas.openxmlformats.org/officeDocument/2006/relationships/slide" Target="slides/slide433.xml"/><Relationship Id="rId440" Type="http://schemas.openxmlformats.org/officeDocument/2006/relationships/slide" Target="slides/slide434.xml"/><Relationship Id="rId441" Type="http://schemas.openxmlformats.org/officeDocument/2006/relationships/slide" Target="slides/slide435.xml"/><Relationship Id="rId442" Type="http://schemas.openxmlformats.org/officeDocument/2006/relationships/slide" Target="slides/slide436.xml"/><Relationship Id="rId443" Type="http://schemas.openxmlformats.org/officeDocument/2006/relationships/slide" Target="slides/slide437.xml"/><Relationship Id="rId444" Type="http://schemas.openxmlformats.org/officeDocument/2006/relationships/slide" Target="slides/slide438.xml"/><Relationship Id="rId445" Type="http://schemas.openxmlformats.org/officeDocument/2006/relationships/slide" Target="slides/slide439.xml"/><Relationship Id="rId446" Type="http://schemas.openxmlformats.org/officeDocument/2006/relationships/slide" Target="slides/slide440.xml"/><Relationship Id="rId447" Type="http://schemas.openxmlformats.org/officeDocument/2006/relationships/slide" Target="slides/slide441.xml"/><Relationship Id="rId448" Type="http://schemas.openxmlformats.org/officeDocument/2006/relationships/slide" Target="slides/slide442.xml"/><Relationship Id="rId449" Type="http://schemas.openxmlformats.org/officeDocument/2006/relationships/slide" Target="slides/slide443.xml"/><Relationship Id="rId450" Type="http://schemas.openxmlformats.org/officeDocument/2006/relationships/slide" Target="slides/slide444.xml"/><Relationship Id="rId451" Type="http://schemas.openxmlformats.org/officeDocument/2006/relationships/slide" Target="slides/slide445.xml"/><Relationship Id="rId452" Type="http://schemas.openxmlformats.org/officeDocument/2006/relationships/slide" Target="slides/slide446.xml"/><Relationship Id="rId453" Type="http://schemas.openxmlformats.org/officeDocument/2006/relationships/slide" Target="slides/slide447.xml"/><Relationship Id="rId454" Type="http://schemas.openxmlformats.org/officeDocument/2006/relationships/slide" Target="slides/slide448.xml"/><Relationship Id="rId455" Type="http://schemas.openxmlformats.org/officeDocument/2006/relationships/slide" Target="slides/slide449.xml"/><Relationship Id="rId456" Type="http://schemas.openxmlformats.org/officeDocument/2006/relationships/slide" Target="slides/slide450.xml"/><Relationship Id="rId457" Type="http://schemas.openxmlformats.org/officeDocument/2006/relationships/slide" Target="slides/slide451.xml"/><Relationship Id="rId458" Type="http://schemas.openxmlformats.org/officeDocument/2006/relationships/slide" Target="slides/slide452.xml"/><Relationship Id="rId459" Type="http://schemas.openxmlformats.org/officeDocument/2006/relationships/slide" Target="slides/slide453.xml"/><Relationship Id="rId460" Type="http://schemas.openxmlformats.org/officeDocument/2006/relationships/slide" Target="slides/slide454.xml"/><Relationship Id="rId461" Type="http://schemas.openxmlformats.org/officeDocument/2006/relationships/slide" Target="slides/slide455.xml"/><Relationship Id="rId462" Type="http://schemas.openxmlformats.org/officeDocument/2006/relationships/slide" Target="slides/slide456.xml"/><Relationship Id="rId463" Type="http://schemas.openxmlformats.org/officeDocument/2006/relationships/slide" Target="slides/slide457.xml"/><Relationship Id="rId464" Type="http://schemas.openxmlformats.org/officeDocument/2006/relationships/slide" Target="slides/slide458.xml"/><Relationship Id="rId465" Type="http://schemas.openxmlformats.org/officeDocument/2006/relationships/slide" Target="slides/slide459.xml"/><Relationship Id="rId466" Type="http://schemas.openxmlformats.org/officeDocument/2006/relationships/slide" Target="slides/slide460.xml"/><Relationship Id="rId467" Type="http://schemas.openxmlformats.org/officeDocument/2006/relationships/slide" Target="slides/slide461.xml"/><Relationship Id="rId468" Type="http://schemas.openxmlformats.org/officeDocument/2006/relationships/slide" Target="slides/slide462.xml"/><Relationship Id="rId469" Type="http://schemas.openxmlformats.org/officeDocument/2006/relationships/slide" Target="slides/slide463.xml"/><Relationship Id="rId470" Type="http://schemas.openxmlformats.org/officeDocument/2006/relationships/slide" Target="slides/slide464.xml"/><Relationship Id="rId471" Type="http://schemas.openxmlformats.org/officeDocument/2006/relationships/slide" Target="slides/slide465.xml"/><Relationship Id="rId472" Type="http://schemas.openxmlformats.org/officeDocument/2006/relationships/slide" Target="slides/slide466.xml"/><Relationship Id="rId473" Type="http://schemas.openxmlformats.org/officeDocument/2006/relationships/slide" Target="slides/slide467.xml"/><Relationship Id="rId474" Type="http://schemas.openxmlformats.org/officeDocument/2006/relationships/slide" Target="slides/slide468.xml"/><Relationship Id="rId475" Type="http://schemas.openxmlformats.org/officeDocument/2006/relationships/slide" Target="slides/slide469.xml"/><Relationship Id="rId476" Type="http://schemas.openxmlformats.org/officeDocument/2006/relationships/slide" Target="slides/slide470.xml"/><Relationship Id="rId477" Type="http://schemas.openxmlformats.org/officeDocument/2006/relationships/slide" Target="slides/slide471.xml"/><Relationship Id="rId478" Type="http://schemas.openxmlformats.org/officeDocument/2006/relationships/slide" Target="slides/slide472.xml"/><Relationship Id="rId479" Type="http://schemas.openxmlformats.org/officeDocument/2006/relationships/slide" Target="slides/slide473.xml"/><Relationship Id="rId480" Type="http://schemas.openxmlformats.org/officeDocument/2006/relationships/slide" Target="slides/slide474.xml"/><Relationship Id="rId481" Type="http://schemas.openxmlformats.org/officeDocument/2006/relationships/slide" Target="slides/slide475.xml"/><Relationship Id="rId482" Type="http://schemas.openxmlformats.org/officeDocument/2006/relationships/slide" Target="slides/slide476.xml"/><Relationship Id="rId483" Type="http://schemas.openxmlformats.org/officeDocument/2006/relationships/slide" Target="slides/slide477.xml"/><Relationship Id="rId484" Type="http://schemas.openxmlformats.org/officeDocument/2006/relationships/slide" Target="slides/slide478.xml"/><Relationship Id="rId485" Type="http://schemas.openxmlformats.org/officeDocument/2006/relationships/slide" Target="slides/slide479.xml"/><Relationship Id="rId486" Type="http://schemas.openxmlformats.org/officeDocument/2006/relationships/slide" Target="slides/slide480.xml"/><Relationship Id="rId487" Type="http://schemas.openxmlformats.org/officeDocument/2006/relationships/slide" Target="slides/slide481.xml"/><Relationship Id="rId488" Type="http://schemas.openxmlformats.org/officeDocument/2006/relationships/slide" Target="slides/slide482.xml"/><Relationship Id="rId489" Type="http://schemas.openxmlformats.org/officeDocument/2006/relationships/slide" Target="slides/slide483.xml"/><Relationship Id="rId490" Type="http://schemas.openxmlformats.org/officeDocument/2006/relationships/slide" Target="slides/slide484.xml"/><Relationship Id="rId491" Type="http://schemas.openxmlformats.org/officeDocument/2006/relationships/slide" Target="slides/slide485.xml"/><Relationship Id="rId492" Type="http://schemas.openxmlformats.org/officeDocument/2006/relationships/slide" Target="slides/slide486.xml"/><Relationship Id="rId493" Type="http://schemas.openxmlformats.org/officeDocument/2006/relationships/slide" Target="slides/slide487.xml"/><Relationship Id="rId494" Type="http://schemas.openxmlformats.org/officeDocument/2006/relationships/slide" Target="slides/slide488.xml"/><Relationship Id="rId495" Type="http://schemas.openxmlformats.org/officeDocument/2006/relationships/slide" Target="slides/slide489.xml"/><Relationship Id="rId496" Type="http://schemas.openxmlformats.org/officeDocument/2006/relationships/slide" Target="slides/slide490.xml"/><Relationship Id="rId497" Type="http://schemas.openxmlformats.org/officeDocument/2006/relationships/slide" Target="slides/slide491.xml"/><Relationship Id="rId498" Type="http://schemas.openxmlformats.org/officeDocument/2006/relationships/slide" Target="slides/slide492.xml"/><Relationship Id="rId499" Type="http://schemas.openxmlformats.org/officeDocument/2006/relationships/slide" Target="slides/slide493.xml"/><Relationship Id="rId500" Type="http://schemas.openxmlformats.org/officeDocument/2006/relationships/slide" Target="slides/slide494.xml"/><Relationship Id="rId501" Type="http://schemas.openxmlformats.org/officeDocument/2006/relationships/slide" Target="slides/slide495.xml"/><Relationship Id="rId502" Type="http://schemas.openxmlformats.org/officeDocument/2006/relationships/slide" Target="slides/slide496.xml"/><Relationship Id="rId503" Type="http://schemas.openxmlformats.org/officeDocument/2006/relationships/slide" Target="slides/slide497.xml"/><Relationship Id="rId504" Type="http://schemas.openxmlformats.org/officeDocument/2006/relationships/slide" Target="slides/slide498.xml"/><Relationship Id="rId505" Type="http://schemas.openxmlformats.org/officeDocument/2006/relationships/slide" Target="slides/slide499.xml"/><Relationship Id="rId506" Type="http://schemas.openxmlformats.org/officeDocument/2006/relationships/slide" Target="slides/slide500.xml"/><Relationship Id="rId507" Type="http://schemas.openxmlformats.org/officeDocument/2006/relationships/slide" Target="slides/slide501.xml"/><Relationship Id="rId508" Type="http://schemas.openxmlformats.org/officeDocument/2006/relationships/slide" Target="slides/slide502.xml"/><Relationship Id="rId509" Type="http://schemas.openxmlformats.org/officeDocument/2006/relationships/slide" Target="slides/slide503.xml"/><Relationship Id="rId510" Type="http://schemas.openxmlformats.org/officeDocument/2006/relationships/slide" Target="slides/slide504.xml"/><Relationship Id="rId511" Type="http://schemas.openxmlformats.org/officeDocument/2006/relationships/slide" Target="slides/slide505.xml"/><Relationship Id="rId512" Type="http://schemas.openxmlformats.org/officeDocument/2006/relationships/slide" Target="slides/slide506.xml"/><Relationship Id="rId513" Type="http://schemas.openxmlformats.org/officeDocument/2006/relationships/slide" Target="slides/slide507.xml"/><Relationship Id="rId514" Type="http://schemas.openxmlformats.org/officeDocument/2006/relationships/slide" Target="slides/slide508.xml"/><Relationship Id="rId515" Type="http://schemas.openxmlformats.org/officeDocument/2006/relationships/slide" Target="slides/slide509.xml"/><Relationship Id="rId516" Type="http://schemas.openxmlformats.org/officeDocument/2006/relationships/slide" Target="slides/slide510.xml"/><Relationship Id="rId517" Type="http://schemas.openxmlformats.org/officeDocument/2006/relationships/slide" Target="slides/slide511.xml"/><Relationship Id="rId518" Type="http://schemas.openxmlformats.org/officeDocument/2006/relationships/slide" Target="slides/slide512.xml"/><Relationship Id="rId519" Type="http://schemas.openxmlformats.org/officeDocument/2006/relationships/slide" Target="slides/slide513.xml"/><Relationship Id="rId520" Type="http://schemas.openxmlformats.org/officeDocument/2006/relationships/slide" Target="slides/slide514.xml"/><Relationship Id="rId521" Type="http://schemas.openxmlformats.org/officeDocument/2006/relationships/slide" Target="slides/slide515.xml"/><Relationship Id="rId522" Type="http://schemas.openxmlformats.org/officeDocument/2006/relationships/slide" Target="slides/slide516.xml"/><Relationship Id="rId523" Type="http://schemas.openxmlformats.org/officeDocument/2006/relationships/slide" Target="slides/slide517.xml"/><Relationship Id="rId524" Type="http://schemas.openxmlformats.org/officeDocument/2006/relationships/slide" Target="slides/slide518.xml"/><Relationship Id="rId525" Type="http://schemas.openxmlformats.org/officeDocument/2006/relationships/slide" Target="slides/slide519.xml"/><Relationship Id="rId526" Type="http://schemas.openxmlformats.org/officeDocument/2006/relationships/slide" Target="slides/slide520.xml"/><Relationship Id="rId527" Type="http://schemas.openxmlformats.org/officeDocument/2006/relationships/slide" Target="slides/slide521.xml"/><Relationship Id="rId528" Type="http://schemas.openxmlformats.org/officeDocument/2006/relationships/slide" Target="slides/slide522.xml"/><Relationship Id="rId529" Type="http://schemas.openxmlformats.org/officeDocument/2006/relationships/slide" Target="slides/slide523.xml"/><Relationship Id="rId530" Type="http://schemas.openxmlformats.org/officeDocument/2006/relationships/slide" Target="slides/slide524.xml"/><Relationship Id="rId531" Type="http://schemas.openxmlformats.org/officeDocument/2006/relationships/slide" Target="slides/slide525.xml"/><Relationship Id="rId532" Type="http://schemas.openxmlformats.org/officeDocument/2006/relationships/slide" Target="slides/slide526.xml"/><Relationship Id="rId533" Type="http://schemas.openxmlformats.org/officeDocument/2006/relationships/slide" Target="slides/slide527.xml"/><Relationship Id="rId534" Type="http://schemas.openxmlformats.org/officeDocument/2006/relationships/slide" Target="slides/slide528.xml"/><Relationship Id="rId535" Type="http://schemas.openxmlformats.org/officeDocument/2006/relationships/slide" Target="slides/slide529.xml"/><Relationship Id="rId536" Type="http://schemas.openxmlformats.org/officeDocument/2006/relationships/slide" Target="slides/slide530.xml"/><Relationship Id="rId537" Type="http://schemas.openxmlformats.org/officeDocument/2006/relationships/slide" Target="slides/slide531.xml"/><Relationship Id="rId538" Type="http://schemas.openxmlformats.org/officeDocument/2006/relationships/slide" Target="slides/slide532.xml"/><Relationship Id="rId539" Type="http://schemas.openxmlformats.org/officeDocument/2006/relationships/slide" Target="slides/slide533.xml"/><Relationship Id="rId540" Type="http://schemas.openxmlformats.org/officeDocument/2006/relationships/slide" Target="slides/slide534.xml"/><Relationship Id="rId541" Type="http://schemas.openxmlformats.org/officeDocument/2006/relationships/slide" Target="slides/slide535.xml"/><Relationship Id="rId542" Type="http://schemas.openxmlformats.org/officeDocument/2006/relationships/slide" Target="slides/slide536.xml"/><Relationship Id="rId543" Type="http://schemas.openxmlformats.org/officeDocument/2006/relationships/slide" Target="slides/slide537.xml"/><Relationship Id="rId544" Type="http://schemas.openxmlformats.org/officeDocument/2006/relationships/slide" Target="slides/slide538.xml"/><Relationship Id="rId545" Type="http://schemas.openxmlformats.org/officeDocument/2006/relationships/slide" Target="slides/slide539.xml"/><Relationship Id="rId546" Type="http://schemas.openxmlformats.org/officeDocument/2006/relationships/slide" Target="slides/slide540.xml"/><Relationship Id="rId547" Type="http://schemas.openxmlformats.org/officeDocument/2006/relationships/slide" Target="slides/slide541.xml"/><Relationship Id="rId548" Type="http://schemas.openxmlformats.org/officeDocument/2006/relationships/slide" Target="slides/slide542.xml"/><Relationship Id="rId549" Type="http://schemas.openxmlformats.org/officeDocument/2006/relationships/slide" Target="slides/slide543.xml"/><Relationship Id="rId550" Type="http://schemas.openxmlformats.org/officeDocument/2006/relationships/slide" Target="slides/slide544.xml"/><Relationship Id="rId551" Type="http://schemas.openxmlformats.org/officeDocument/2006/relationships/slide" Target="slides/slide545.xml"/><Relationship Id="rId552" Type="http://schemas.openxmlformats.org/officeDocument/2006/relationships/slide" Target="slides/slide546.xml"/><Relationship Id="rId553" Type="http://schemas.openxmlformats.org/officeDocument/2006/relationships/slide" Target="slides/slide547.xml"/><Relationship Id="rId554" Type="http://schemas.openxmlformats.org/officeDocument/2006/relationships/slide" Target="slides/slide548.xml"/><Relationship Id="rId555" Type="http://schemas.openxmlformats.org/officeDocument/2006/relationships/slide" Target="slides/slide549.xml"/><Relationship Id="rId556" Type="http://schemas.openxmlformats.org/officeDocument/2006/relationships/slide" Target="slides/slide550.xml"/><Relationship Id="rId557" Type="http://schemas.openxmlformats.org/officeDocument/2006/relationships/slide" Target="slides/slide551.xml"/><Relationship Id="rId558" Type="http://schemas.openxmlformats.org/officeDocument/2006/relationships/slide" Target="slides/slide552.xml"/><Relationship Id="rId559" Type="http://schemas.openxmlformats.org/officeDocument/2006/relationships/slide" Target="slides/slide553.xml"/><Relationship Id="rId560" Type="http://schemas.openxmlformats.org/officeDocument/2006/relationships/slide" Target="slides/slide554.xml"/><Relationship Id="rId561" Type="http://schemas.openxmlformats.org/officeDocument/2006/relationships/slide" Target="slides/slide555.xml"/><Relationship Id="rId562" Type="http://schemas.openxmlformats.org/officeDocument/2006/relationships/slide" Target="slides/slide556.xml"/><Relationship Id="rId563" Type="http://schemas.openxmlformats.org/officeDocument/2006/relationships/slide" Target="slides/slide557.xml"/><Relationship Id="rId564" Type="http://schemas.openxmlformats.org/officeDocument/2006/relationships/slide" Target="slides/slide558.xml"/><Relationship Id="rId565" Type="http://schemas.openxmlformats.org/officeDocument/2006/relationships/slide" Target="slides/slide559.xml"/><Relationship Id="rId566" Type="http://schemas.openxmlformats.org/officeDocument/2006/relationships/slide" Target="slides/slide560.xml"/><Relationship Id="rId567" Type="http://schemas.openxmlformats.org/officeDocument/2006/relationships/slide" Target="slides/slide5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1051560" cy="1051560"/>
          </a:xfrm>
          <a:prstGeom prst="rect">
            <a:avLst/>
          </a:prstGeom>
        </p:spPr>
      </p:pic>
      <p:pic>
        <p:nvPicPr>
          <p:cNvPr id="6" name="Picture 5" descr="comptia-cloudpl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0" y="502920"/>
            <a:ext cx="1485041" cy="1234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48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WSQ COURSE SLIDES  ·  CV0-004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WSQ CompTIA Certified Cloud+ Training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29768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WSQ Course Code: TGS-2024049214  ·  36 hands-on labs · 6 exam domains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897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Trainer: Dr. Alfred Ang   ·   Version 2.0  ·  19 Aug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236208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AM, PM and Assessment attendance is mandatory for WSQ-funded courses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trainer displays the SSG digital attendance QR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it with your phone camera and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attendance at 75% or above to stay eligible for funding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5B6372"/>
                </a:solidFill>
                <a:latin typeface="Arial"/>
              </a:rPr>
              <a:t>YOUR TRAINER · GENERAL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5B63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Your Trainer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3063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General Trainer template —
to be completed by the trainer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NAME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2984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52984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52984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TITLE / DESIGNATION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327660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3276600"/>
            <a:ext cx="91440" cy="56388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327660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QUALIFICATIONS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402336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4023360"/>
            <a:ext cx="91440" cy="563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402336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AREAS OF EXPERTISE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80560" y="477012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60" y="4770120"/>
            <a:ext cx="91440" cy="56388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73168" y="477012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TRAINING &amp; INDUSTRY EXPERIENCE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5516880"/>
            <a:ext cx="6949440" cy="5638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80560" y="5516880"/>
            <a:ext cx="91440" cy="56388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73168" y="5516880"/>
            <a:ext cx="6400800" cy="563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CONTACT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________________________________________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68780" y="2286000"/>
            <a:ext cx="1554480" cy="155448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68780" y="2286000"/>
            <a:ext cx="1554480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AA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100" b="1">
                <a:solidFill>
                  <a:srgbClr val="161B26"/>
                </a:solidFill>
                <a:latin typeface="Arial"/>
              </a:rPr>
              <a:t>Dr. Alfred 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09160"/>
            <a:ext cx="3063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Principal Trainer
Tertiary Infotech Academy Pte. Ltd.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178308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783080"/>
            <a:ext cx="91440" cy="93726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178308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ROLE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Principal Trainer &amp; Cloud/DevOps Consultant, Tertiary Infotech Academy.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90322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80560" y="2903220"/>
            <a:ext cx="91440" cy="9372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73168" y="290322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CERTIFICATION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CompTIA Cloud+ / cloud &amp; DevOps certified practitioner (PhD).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60" y="402336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80560" y="4023360"/>
            <a:ext cx="91440" cy="93726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73168" y="402336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DELIVERS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WSQ courses on cloud, containers, Kubernetes, IaC and DevSecOps.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60" y="5143500"/>
            <a:ext cx="6949440" cy="93726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80560" y="5143500"/>
            <a:ext cx="91440" cy="9372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73168" y="5143500"/>
            <a:ext cx="6400800" cy="9372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EXPERIENCE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15+ years designing, deploying and teaching cloud solutions.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Who you are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Your name, organisation and role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cloud today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AWS, Azure, GCP, on-prem — or all of them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toolchain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Do you use containers, CI/CD or Infrastructure as Code?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Your goal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What you most want to take away from these two 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HOUSEKEEPING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74520"/>
            <a:ext cx="4027932" cy="1185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74520"/>
            <a:ext cx="4027932" cy="1185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25952"/>
            <a:ext cx="4027932" cy="1185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Reset the Killercoda playground between stateful labs.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25952"/>
            <a:ext cx="4027932" cy="1185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One conversation at a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77384"/>
            <a:ext cx="4027932" cy="1185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77384"/>
            <a:ext cx="4027932" cy="1185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161B26"/>
                </a:solidFill>
                <a:latin typeface="Arial"/>
              </a:rPr>
              <a:t>75% attendance is required for funding.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COURSE PORTAL · LMS / TMS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Download Course Material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202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634472" cy="4754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911096"/>
            <a:ext cx="219456" cy="219456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1911096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08760" y="1911096"/>
            <a:ext cx="219456" cy="21945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5960" y="1856232"/>
            <a:ext cx="907999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1856232"/>
            <a:ext cx="871423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https://lms-tms.tertiaryinfotech.com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560320"/>
            <a:ext cx="97200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LMS / TMS — Tertiary Infotech Learning Portal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Log in with the credentials emailed to you on enrolment.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69080"/>
            <a:ext cx="245287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29359" y="43251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29359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Log in to the LMS/TMS portal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4398" y="468630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04438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04438" y="4069080"/>
            <a:ext cx="245287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56557" y="43251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6557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41598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 My Courses → CompTIA Cloud+ (CV0-004)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1596" y="468630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1636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1636" y="4069080"/>
            <a:ext cx="245287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183755" y="43251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83755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8796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Download the Slides, Learner Guide and Lab links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8794" y="468630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8834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58834" y="4069080"/>
            <a:ext cx="2452878" cy="7315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910953" y="4325112"/>
            <a:ext cx="548640" cy="548640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10953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5994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Keep them open — the assessment is open book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LAB ENVIRONMENT · 100% FREE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Your Free Lab Toolkit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711403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711403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873605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87360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9482328" cy="5285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Killercoda Ubuntu Playground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Disposable root Ubuntu VM — runs every lab  ·  https://killercoda.com/playgrounds/scenario/ubuntu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713939"/>
            <a:ext cx="10634472" cy="711403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713939"/>
            <a:ext cx="91440" cy="711403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14984" y="2804464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4" y="280446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2823667"/>
            <a:ext cx="9482328" cy="5285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IP Calculator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Subnet/CIDR planning for the VPC and networking labs  ·  https://alfredang.github.io/ipcalculator/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644798"/>
            <a:ext cx="10634472" cy="711403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644798"/>
            <a:ext cx="91440" cy="711403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3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754526"/>
            <a:ext cx="9482328" cy="5285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PCAP Analyzer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Inspect packet captures from the network troubleshooting lab  ·  https://alfredang.github.io/pcapanalyzer/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575657"/>
            <a:ext cx="10634472" cy="711403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575657"/>
            <a:ext cx="91440" cy="71140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666182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66618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685385"/>
            <a:ext cx="9482328" cy="5285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Regex Generator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Build grok/regex patterns for the centralized logging lab  ·  https://alfredang.github.io/regexgenerator/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5506516"/>
            <a:ext cx="10634472" cy="711403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5506516"/>
            <a:ext cx="91440" cy="711403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59704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59704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5616244"/>
            <a:ext cx="9482328" cy="5285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Cybersecurity Simulator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5B6372"/>
                </a:solidFill>
                <a:latin typeface="Arial"/>
              </a:rPr>
              <a:t>Practise attack/defence scenarios from the security labs  ·  https://alfredang.github.io/cybersecuritysimulator/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SCHEDULE  ·  1-HOUR LUNCH  ·  8 INSTRUCTIONAL HOURS PER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Lesson Plan — 2 Days  ·  9:30 AM – 6:30 PM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Day 1 · Morning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Domain 1 — Cloud Architecture: service models, HA, VPC networking, storage, containers (Labs 1–6)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Day 1 · Afternoon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Domain 1 wrap-up + Domain 2 — Deployment: blue-green, canary, rolling, IaC, CaC (Labs 7–15)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Day 1 · Late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Domain 3 — Operations begins: Prometheus, Grafana, ELK, Jaeger (Labs 16–18)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Day 2 · Morning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Domain 3 wrap-up + Domain 4 — Security: Trivy, Lynis, Keycloak (Labs 19–24)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Day 2 · Afternoon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Domain 4 wrap-up, Domain 5 — DevOps and Domain 6 — Troubleshooting (Labs 25–36)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Day 2 · 4:30–6:30 PM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Assessment: Written Assessment (1 hr) + Practical Performance (1 hr)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1 — Cloud Architecture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 Architecture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2 — Deployment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Provisioning and configuring cloud resources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3 — Operations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Running cloud systems day-to-day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4 — Security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Securing the cloud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5 — DevOps Fundamentals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DevOps Fundamentals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6 — Troubleshooting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Troubleshooting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CERTIFICATION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Exam — CompTIA Cloud+ CV0-004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code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CV0-004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Questions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Maximum of 90 · Multiple-choice and performance-based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Length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90 minutes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Passing score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750 (on a scale of 100–900)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Recommended experience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2–3 yrs sysadmin/cloud; Network+ &amp; Server+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Delivery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100% hands-on on the free Killercoda Ubuntu Playground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BEFORE THE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Phones away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Place phones and other materials under the table or on the floor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 recording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photos or recording of assessment scripts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 discussion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Work individually — no discussion during the assessment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Black or blue pen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a black/blue pen for hard-copy assessments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 correction fluid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liquid paper or correction tape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Time is called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Scripts are collected when time is up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Written Assessment (WA)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1 hour · open-ended short-answer knowledge questions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1 hour · hands-on tasks drawn from the class labs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Slides, Learner Guide and approved materials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Competent in both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must be assessed Competent (C) in the WA and the PP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4:30–6:30 PM on Day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Where to submit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Upload your answers on the LMS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CORE CONCEPTS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Cloud Foundations You'll Use All Course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Shared Responsibility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provider is never responsible for everything — you always own your data and access.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Models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IaaS, PaaS, SaaS and FaaS abstract away progressively more of the stack.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Deployment Models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Public, private, hybrid and community differ in tenancy, control and cost.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Elasticity &amp; HA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Scale horizontally and remove single points of failure across availability zones.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Everything-as-Code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Infrastructure, configuration and pipelines are versioned, reviewable code.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Observability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Metrics, logs and traces together make a system observable and debuggable.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The cloud is built, run and secured as code.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Every lab in this course is a hands-on reflection of a CV0-004 exam objective — build it, break it, fix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1  · 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Cloud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Cloud concepts, service and deployment models, the shared responsibility model, high availability, networking (VPC), storage tiers, virtualization, databases and cloud-native / microservices design.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23% OF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Cloud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989963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Cloud Service Models &amp; Shared Responsibility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four service models — IaaS, PaaS, SaaS, FaaS — and what each abstracts away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1989963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High Availability with HAProxy &amp; Keepalived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Multi-AZ load balancing and round-robin distribution across backends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46654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153537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Cloud Networking with VPC Namespaces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A VPC/subnet is a kernel network feature (network namespace = subnet)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46654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153537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Storage Tiers (Block, Object, File)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Three storage types: block (EBS), object (S3), file (EFS/Azure Files)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10228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431711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Microservices &amp; Service Discovery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Services register / deregister with a service registry (Consul)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110228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431711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Containerization with Docker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Image lifecycle: build, tag, run, push (Dockerfile FROM/COPY/EXPOSE)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73802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4984" y="5480685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09928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Virtualization with QEMU/KVM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Hypervisor virtualization vs containerization (own kernel vs shared kernel)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5273802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69380" y="5480685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9380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4324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Relational vs Non-Relational Databases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Relational model: strict schema, ACID, foreign keys, JOINs (Postgres)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 Labs — Cloud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Labs 1–3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1: Cloud Service Models &amp; Shared Responsibility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2: High Availability with HAProxy &amp; Keepalived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3: Cloud Networking with VPC Namespaces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Labs 4–6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4: Storage Tiers (Block, Object, File)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5: Microservices &amp; Service Discovery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6: Containerization with Docker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Labs 7–8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7: Virtualization with QEMU/KVM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8: Relational vs Non-Relational Databases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1.1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Cloud Models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Deployment models, service models, shared responsibility and designing for high availability.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Makes It 'Cloud'? (NIST 800-145)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On-demand self-service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Provision compute and storage yourself, in minutes, with no human at the provider involved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Broad network access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Reachable from anywhere over standard networks - browser, CLI, API, mobile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Resource pooling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Multi-tenant hardware shared across customers; you never see the physical server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Rapid elasticity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Capacity expands and contracts with demand - it appears unlimited to the consumer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Measured 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Usage is metered per second, GB or request - you pay only for what you consume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Deployment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Public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Provider-owned, shared by many tenants. AWS, Microsoft Azure, Google Cloud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Dedicated to one organisation, on-prem or hosted. OpenStack, VMware, Azure Stack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Hybrid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Private + public joined by VPN or dedicated link; workloads and data move between them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Community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Shared by organisations with common needs - healthcare, government, education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Multi-cloud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Two or more public providers used side by side to avoid lock-in or pick best services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bursting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Hybrid pattern: run private, overflow peak demand into public capacity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Deployment Models: Tenancy, Control, Cost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Tenancy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Cost profile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Public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Multi-tenant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OpEx, pay-as-you-go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Private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Single-tenant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Highest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CapEx heavy, you buy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Hybrid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Mixed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Split by workload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Both models combined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Community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Shared vertical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Shared governance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Cost split by members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Multi-cloud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Multi-provider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Per provider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Complex billing to manage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Core Service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IaaS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Raw compute, storage, network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You manage OS, runtime, app, data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EC2, Azure VMs, Compute Engine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Most control, most admin work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PaaS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Managed runtime and platform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You bring only code and data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Elastic Beanstalk, App Service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Faster delivery, less OS patching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SaaS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Finished application, per-user fee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You manage data and access only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Microsoft 365, Salesforce, Gmail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Zero infrastructure to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Shared Responsibility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IaaS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PaaS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SaaS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Data + access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Application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Runtime / middleware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Guest OS + patching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You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Hypervisor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Hardware + facility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42202" y="5230368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70218" y="523036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65372" y="5230368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93388" y="523036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88542" y="5230368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16558" y="523036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Provider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FaaS and Serverless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Function as a 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Upload a function; the provider runs it per event. No servers to size or patch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Event-driven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Triggered by HTTP calls, queue messages, file uploads, timers - not always-on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Scale to zero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Idle functions cost nothing; scale out is automatic and near-instant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Provider examples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Lambda, Azure Functions, Google Cloud Functions / Cloud Run functions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Billing unit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Per invocation and per ms of execution - the purest pay-per-use 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Watch the limits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Execution time caps and cold starts - long jobs belong on VMs or containers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Picking a Service Model in a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Need OS-level control or custom kernel? Choose IaaS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Just deploying your own code? Choose PaaS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Short event-driven tasks? Choose FaaS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Buying a finished app for users? Choose SaaS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Regions, Zones and the Edge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geographic area holding one or more data-centre clusters, e.g. ap-southeast-1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Availability Zone (AZ)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 isolated data centre within a region - own power, cooling, network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Multi-AZ design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Spread instances across AZs behind a load balancer to survive a zone outage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Multi-region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Protects against a whole-region disaster; adds latency and replication cost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Edge computing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Process close to users or devices - CDN PoPs, AWS Outposts, Azure Edge Zones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Availability monitoring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Health checks and status pages prove the SLA is actually being met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Single-AZ vs Multi-AZ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Single-AZ (fragile)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Multi-AZ (highly available)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One zone hosts everything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Zone outage = total outage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Cheapest and simplest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OK for dev / test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Instances in 2+ zones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Load balancer spreads traffic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Data replicated across zones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Zone failure absorbed automatically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Standard for production SLAs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Disaster Recovery Vocabulary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RTO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Recovery Time Objective - how long you may be down before recovery completes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RPO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Recovery Point Objective - how much data (in time) you can afford to lose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Hot site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Fully running duplicate; near-zero RTO/RPO, highest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Warm site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Infrastructure ready, data partially synced; recovery in hours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Cold site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Space and power only; days to recover, cheapest option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angle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Lower RTO/RPO always costs more - match the site type to the numbers given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Hands-On: Labs 1 and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1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build IaaS, PaaS, SaaS and FaaS equivalents on the Killercoda Ubuntu playground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1 maps each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model to its shared-responsibility split - who patches, who secures, who codes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simulate a multi-AZ deployment: two backends, HAProxy health checks, Keepalived failover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 shows 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virtual IP floating between load balancers - the pattern behind every cloud LB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All labs run free in the browser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killercoda.com/playgrounds/scenario/ubuntu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Cloud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Responsibility questions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Ask 'who manages the OS?' - IaaS you, PaaS/SaaS provider. Data is ALWAYS yours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Model keywords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'No servers to manage' + event = FaaS; 'per-user subscription' = SaaS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Hybrid triggers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sovereignty, legacy systems, cloud bursting all point to hybrid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Multi-cloud reason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Avoid vendor lock-in and outage blast radius - not cost savings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 vs region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AZ failure -&gt; multi-AZ saves you; region failure -&gt; multi-region DR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RTO vs RPO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RTO = downtime clock, RPO = data-loss clock. Do not swap them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The provider secures the cloud; you secure what you put IN the cloud.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Every service-model question reduces to the responsibility line: it rises from IaaS to SaaS, but your data and access control never leave your side.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1.2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Virtualization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Hypervisors, VMs, snapshots and clones, oversubscription, and affinity rules - the engine room of every cloud.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Virtualization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Physical server: CPU, RAM, disk, NIC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Hypervisor abstracts the hardware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Virtual machines get vCPU, vRAM, vDisk, vNIC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Each VM runs its own full OS in isolation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Cloud APIs automate the whole stack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Type 1 vs Type 2 Hypervisors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Type 1 - bare metal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Type 2 - hosted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Runs directly on hardware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VMware ESXi, Hyper-V, KVM, Xen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Best performance and security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What every cloud provider runs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Runs on top of a host OS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VirtualBox, VMware Workstation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Extra OS layer costs performance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Desktop labs, dev and 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Hypervisors You Should Recognise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KVM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Linux kernel module; powers much of AWS, GCP and OpenStack. Lab 7 uses QEMU/KVM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VMware ESXi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Enterprise Type 1 standard; vSphere manages fleets of ESXi hosts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Microsoft Hyper-V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Type 1 in Windows Server; the foundation under Azure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Xen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Open-source Type 1; historically behind early AWS EC2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VirtualBox / Workstation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Type 2 hosted hypervisors for desktops and classrooms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Nitro / custom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Nitro offloads virtualization to dedicated cards for near-native speed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Hardware-Assisted Virtualization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Intel VT-x / AMD-V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CPU instructions that let guests run at near-native speed - required by KVM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SLAT (EPT / RVI)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Second-level address translation - hardware maps guest memory to host memory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IOMMU pass-through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VT-d / AMD-Vi hands a physical device (GPU, NIC) directly to one VM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SR-IOV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physical NIC presents many virtual functions - low-latency VM networking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GPU pass-through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Dedicated GPU access for AI/ML and graphics workloads in the cloud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Nested virtualization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 a hypervisor inside a VM - how cloud labs like Killercoda 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Virtual Machines vs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Virtual machine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Container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Isolation unit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Full guest 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Process + namespaces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Boot time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Minutes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Seconds or less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Size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GBs per image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MBs per image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Kernel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Own kernel per VM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Shares host kernel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Density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Tens per host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Hundreds per host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Best for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Legacy, mixed OS, strong isolation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Microservices, CI/CD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Snapshots, Templates and Clones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Snapshot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Point-in-time state of a VM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Instant rollback before changes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Not a backup - chains hurt I/O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AWS: EBS snapshot (incremental)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Template / image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Golden master for new VMs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OS + patches + agents baked in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AMI, Azure Image, GCP Image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Basis of consistent fleets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Clone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Full clone: independent copy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Linked clone: deltas only, fast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qcow2 backing files do this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7 builds a linked clone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CPU and Memory Oversubscription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idea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Allocate more virtual resources than physically exist - most VMs idle most of the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vCPU ratios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4:1 vCPU-to-core is common for general loads; 1:1 for latency-critical apps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Memory ballooning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Hypervisor reclaims idle guest RAM via a balloon driver when hosts get tight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Swap / compression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Last-resort memory relief - performance falls off a cliff when it kicks 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Thin provisioning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Storage version: present 1 TB, consume only what is written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risk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If everyone peaks together you get contention - watch CPU ready time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Host Affinity vs Anti-Affinity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Affinity - keep together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Anti-affinity - keep apart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Pin VMs to the same host/group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Chatty app tiers: low latency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Licensing tied to specific hosts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Risk: one host = one failure domain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Force VMs onto different hosts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Both LB nodes must never share a host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Cluster quorum members split up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The HA answer on the exam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VM Networking and Storage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VM networks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Virtual switches connect vNICs - bridged, NAT or isolated host-only segments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Overlay networks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VXLAN/GENEVE tunnels span hosts - how VPCs stretch across data centres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Local storage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Disk on the host itself - fastest, but dies with the host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Block storage over Fibre Channel or iSCSI - shared, enables live migration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File storage over NFS/SMB - simple shared folders for many VMs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Hardware pass-through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GPU or NIC handed to one VM - performance at the cost of mobility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Stand-Alone vs Clustered Hosts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Stand-alone host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hypervisor, no failover - host dies, every VM on it dies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Cluster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Hosts pooled with shared storage; VMs restart elsewhere on failure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Live migration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vMotion / Live Migration moves a running VM between hosts with zero downtime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Dynamic placement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VMware DRS-style schedulers rebalance VMs based on load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equivalent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placement groups: cluster (close), spread (apart), partition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Maintenance mode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Evacuate a host for patching without touching workloads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VIRTUALIZATION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7 - Virtualization in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Create a qcow2 virtual disk with qemu-img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Thin-clone it via a backing file (linked clone)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Boot a VM with QEMU and inspect its virtual NIC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Snapshot, then roll back a change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the result with Lab 6 containers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Virtualization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Type 1 vs 2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'Bare metal' or 'production/cloud' = Type 1; 'on a laptop/host OS' = Type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Snapshot trap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snapshot is NOT a backup - it depends on the original disk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Anti-affinity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'must survive host failure' wording = anti-affinity rule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Oversubscription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Widespread slowness at peak times = CPU/RAM contention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Pass-through trade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IOMMU/GPU pass-through boosts speed but blocks live migration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Containers share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Containers share the host kernel; VMs never do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Every cloud instance is a VM on someone else's Type 1 hypervisor.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Master the hypervisor layer - snapshots, clones, oversubscription and affinity - and cloud compute behaviour stops being magic.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1.3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Cloud Networking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VPCs, subnets, gateways, security layers, hybrid connectivity, DNS, load balancing and CDN.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Virtual Private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VPC / VNet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Your own isolated network inside the provider - AWS VPC, Azure VNet, GCP VPC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CIDR block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VPC's private address space, e.g. 10.0.0.0/16 - plan it before building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Subnet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slice of the CIDR bound to one AZ, e.g. 10.0.1.0/24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Public subnet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Route to an internet gateway - load balancers and bastions live here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Private subnet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direct internet route - app servers and databases live here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ENI / vNIC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Virtual network card attaching an instance to a subnet with a private IP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 Packet Leaves Your VPC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Instance sends traffic to its subnet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Security group allows it out (stateful)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Route table matches 0.0.0.0/0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Next hop: internet gateway or NAT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NACL evaluated at the subnet boundary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Internet Gateway vs NAT Gateway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Internet gateway (IGW)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NAT gateway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Two-way door for public subnets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Inbound AND outbound traffic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Needs public IP on the instance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One per VPC, no bandwidth charge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One-way door for private subnets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Outbound only - updates, APIs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Inbound connections blocked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Hourly + per-GB processing cost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Deploy one per AZ for HA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Security Groups vs Network ACLs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Security group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Network ACL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Attaches to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Instance / ENI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Subnet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State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Stateful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Stateless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Rules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Allow only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Allow and deny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Evaluation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All rules checked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Numbered order, first hit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Return traffic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Auto-allowed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Needs explicit rule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Use as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Primary firewall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Subnet-level backstop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CIDR and Subnet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CIDR notation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/24 = 256 addresses, /16 = 65,536. Smaller suffix = bigger network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Provider reserve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keeps 5 IPs per subnet - a /24 really gives 251 usable hosts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 overlaps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Peered or VPN-connected networks must never share address space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Grow room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Size the VPC /16, carve /24 subnets per AZ and tier as you go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Free tool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IP Calculator - alfredang.github.io/ipcalculator - plan CIDRs and splits visually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3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build subnets, a router, NAT and a firewall rule from raw Linux namespaces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VPN: Site-to-Site vs Point-to-Site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Site-to-site VPN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Point-to-site VPN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Office network &lt;-&gt; cloud VPC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IPsec tunnel, always 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Customer gateway + VPN gateway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Whole networks talk privately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AWS S2S VPN, Azure VPN Gateway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One laptop &lt;-&gt; cloud VPC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TLS/OpenVPN or IKEv2 client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Remote workers and admins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AWS Client VPN, Azure P2S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Scales per user, not per site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Dedicated Connections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Direct Connect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Private fibre from your DC to AWS - consistent latency, up to 100 Gbps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ExpressRoute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Same idea for Azure; pairs with a VPN as encrypted backup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GCP Interconnect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Dedicated or Partner Interconnect into Google's network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dedicated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Predictable bandwidth, lower egress rates, traffic never crosses internet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not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Weeks to provision and monthly port fees - VPN wins for speed of setup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'Consistent/guaranteed performance' = dedicated; 'quick + encrypted' = VPN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DNS in the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DNS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Amazon Route 53, Azure DNS, Google Cloud DNS - authoritative zones as a service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Core records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A/AAAA to IPs, CNAME to names, MX mail, TXT verification, NS delegation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Alias records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Point a zone apex at a load balancer or CDN - a cloud-only extension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Routing policies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Weighted, latency-based, geolocation and failover routing at the DNS layer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Health checks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DNS failover flips users to the standby region when probes fail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TTL matters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Long TTLs cache stale answers - lower them before planned cutovers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Load Balancing: Layer 4 vs Layer 7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Layer 4 (network)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Layer 7 (application)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Sees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IP + TCP/UDP 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HTTP paths, headers, cookies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Routing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Per connection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Per request, content-based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Speed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Millions of conns, low latency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More work per request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TLS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Pass-through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Terminates and inspects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Network Load Balancer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Application Load Balancer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Azure / GCP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Azure LB / TCP proxy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 Gateway / HTTP(S) LB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Content Delivery Networks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What a CDN does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Caches content at edge PoPs near users - lower latency, less origin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Providers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Amazon CloudFront, Azure Front Door / CDN, Google Cloud CDN, Cloudflare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Cache behaviour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TTL headers control freshness; invalidations purge stale objects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Dynamic too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Modern CDNs accelerate APIs and run edge functions, not just images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Security bonus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DDoS absorption and WAF integration at the edge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bonus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CDN egress is usually cheaper than serving from the origin region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Connecting VPCs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VPC peering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Private 1-to-1 link between two VPCs - non-transitive, no overlapping CIDRs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Transit gateway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Hub-and-spoke router joining many VPCs and VPNs - scales past peering mesh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SDN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Software-defined networking - the control plane behind all of this is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BGP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Border Gateway Protocol exchanges routes over VPNs and Direct Connect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Static routes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Manually pinned next hops - simple, but no automatic failover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VLANs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Layer-2 segmentation on-prem; VPC subnets play the equivalent role in cloud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CLOUD NETWORKING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3 - Build a VPC From Scratch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Create two 'subnets' as Linux network namespaces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Wire them to a router namespace with veth pairs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routes - the route table in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Enable NAT with iptables - your NAT gateway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a firewall rule - your security group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Cloud Networking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Stateful vs stateless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SG = stateful/allow-only; NACL = stateless/ordered allow+deny. Guaranteed question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Private subnet updates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Instances need outbound only = NAT gateway, never an IGW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Peering limit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Peering is non-transitive - 'many VPCs' answers are transit gateway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L4 or L7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Path/header/cookie routing = L7 ALB; raw TCP speed or static IP = L4 NLB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Latency worldwide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Global static content latency = CDN, not bigger servers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CIDR maths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Practise /26, /27 splits - the IP Calculator tool makes this fast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 VPC is just routing, NAT and firewalls - rented instead of racked.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Lab 3 proves it: subnets, route tables, NAT and security groups are Linux primitives the providers wrap in an API.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1.4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Containerization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Images and layers, Dockerfiles, registries, volumes and container networking - packaged apps that run anywhere.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Containers vs Virtual Machines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Virtual machine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Container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Virtualizes hardware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Full guest OS per instance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GBs, boots in minutes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Strong isolation boundary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Any OS mix on one host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Virtualizes the OS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Shares the host kernel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MBs, starts in milliseconds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Namespace + cgroup isolation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Perfect for microservices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Images and Layers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Read-only template: filesystem + metadata. A container is a running image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Layers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Each Dockerfile instruction adds a layer; layers are cached and shared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Copy-on-write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container adds a thin writable layer on top - gone when it is removed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 image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Start from ubuntu, alpine or distroless - smaller base = smaller attack surface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Tags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myapp:1.0 is a movable label; 'latest' is just a tag, not a guarantee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Digest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sha256 content hash - the only truly immutable reference to an image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From Dockerfile to Running 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a Dockerfile: FROM, COPY, RUN, EXPOSE, CMD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docker build -t myapp:1.0 . creates the 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docker push uploads it to a registry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docker pull fetches it on any host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docker run -d -p 8080:80 starts the container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Dockerfile Essentials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Base image the build starts from - always the first instruction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COPY / ADD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Bring application files into the image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Execute a command at build time - installs packages, creates a layer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EXPOSE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Documents the listening port (mapping still happens at run time)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ENV / ARG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Configuration values baked in or supplied at build time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CMD / ENTRYPOINT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What runs when the container starts - one process per container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Image Registries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Registry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Stores and serves images - the 'app store' of your container platform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Docker Hub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default public registry; official images live here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ECR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Elastic Container Registry - private, IAM-controlled, scans on push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ACR / GCP AR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Azure Container Registry and Google Artifact Registry - same role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Private registry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Self-hosted registry:2 container - Lab 6 pushes to 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Vulnerability scanning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Registries scan layers for CVEs before images reach production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Running Stand-Alone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Stand-alone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Single container, single host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docker run -d --name web ...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restart policies for resilience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 scheduler, no self-healing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Port mapping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-p 8080:80 = host:container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Publishes the service outward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Multiple apps share one host IP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CV0-004 names this explicitly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Configuration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-e VAR=value for env config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Secrets injected, never baked in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Same image, per-env settings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12-factor app principle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Persistent Volumes vs Ephemeral Storage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Ephemeral (default)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Persistent volumes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Writable layer inside container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Deleted with the container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Fine for scratch and cache data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Never store databases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docker volume or bind mount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Outlives container restarts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Shared between containers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Cloud: EBS/EFS, Azure Disk/Files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Databases and uploads live 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Networking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Bridge (default)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Private NAT network on one host; containers reach out via the host 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User-defined bridge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Adds automatic DNS - containers resolve each other by 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Host mode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Container shares the host network stack - fast, but no isolation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None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networking at all - maximum isolation for batch jobs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Overlay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Spans multiple hosts for swarm/K8s - the VXLAN idea again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Port mapping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-p host:container is NAT from host interface into the bridge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Services Across Providers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Registry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Artifact Registry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Simple run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App Runner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Container Instances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Run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Orchestrated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ECS / EKS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GKE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Serverless nodes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Fargate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ACI / AKS virtual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Run / Autopilot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Hands-On: Lab 6 -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Build a custom nginx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image from a Dockerfile and tag it myapp:1.0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it stand-alone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port mapping and prove ephemeral storage loses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Attach a named volume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and watch the data survive container deletion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Create a user-defined network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and resolve containers by name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Push the image to a local private registry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ECR/ACR workflow in miniature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CONTAINERIZATION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Good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One process per container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Compose services, do not build mini-VMs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Small images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Alpine or distroless bases cut size and CVE 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as non-root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USER directive limits blast radius of a compromise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Immutable deploys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Never patch a running container - build and redeploy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Pin versions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Tag or digest-pin bases; 'latest' breaks reproducibility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 continuously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Registry scanning plus rebuilds when base CVEs land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Containerization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vanished?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Writable layer is ephemeral - the fix is a persistent volume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Port mapping syntax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-p 8080:80 is HOST first, CONTAINER second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Registry role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Store/distribute images = registry; run them = runtime/orchestrator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Kernel question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Containers share the host kernel - so no Windows containers on Linux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Isolation question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Need hard multi-tenant isolation? VM beats container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Image vs container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Image = template at rest; container = running instance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Build once, run anywhere: the image is the contract.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Everything above the kernel ships inside the image; state lives in volumes; configuration arrives from outside. That trio answers most container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1.5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Orchestration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Kubernetes architecture, scaling, self-healing and service discovery - running containers as a fleet.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Orchestration?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Decide which host runs each container across a whole cluster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Add or remove replicas automatically as load changes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Self-healing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Restart crashed containers, replace failed nodes - no pager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Rollouts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Deploy new versions gradually and roll back on failure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discovery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Find services by name as containers churn across 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Config and secrets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Deliver settings and credentials to workloads securely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Desired-State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You declare: 'run 3 replicas of myapp:1.0'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Scheduler places pods on healthy nodes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Controllers watch actual vs desired state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pod dies - actual state drifts to 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Controller creates a replacement - back to 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Kubernetes Control Plane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API server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front door - kubectl, CI/CD and nodes all talk to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etcd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Distributed key-value store holding the entire cluster state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Assigns new pods to nodes based on resources and constraints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Controller manager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Runs the reconciliation loops that enforce desired state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controller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Wires K8s to provider load balancers, disks and nodes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offerings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EKS, AKS and GKE run this layer for you - you keep the nodes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Worker Nodes and Pods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VM (or bare-metal host) that runs your workloads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kubelet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Node agent - starts pods the scheduler assigns and reports health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kube-proxy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Programs the node's networking so Service IPs actually route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Container runtime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containerd or CRI-O actually runs the containers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Smallest deployable unit - one or more containers sharing IP and volumes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Sidecar pattern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Helper container in the pod: logging, proxy, TLS - same lifecycle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Pod, Deployment, 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Runs the containers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Mortal - gets a new IP each time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Never manage pods by hand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Scheduled onto one node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Declares replicas + image version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Owns a ReplicaSet of pods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Rolling updates and rollbacks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Your main day-to-day object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Stable virtual IP + DNS name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Load balances across pods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ClusterIP, NodePort, LoadBalancer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The discovery mechanism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Scaling the Application and the Cluster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Workload scaling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Infrastructure scaling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HPA - horizontal pod autoscaler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Adds pod replicas on CPU/metrics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VPA - vertical pod autoscaler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Resizes pod CPU/RAM requests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Manual: kubectl scale --replicas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Cluster autoscaler adds nodes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Triggered by unschedulable pods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Removes underused nodes too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GKE Autopilot / EKS Karpenter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Pods scale first, nodes follow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Self-Healing Mechanics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Liveness probe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Fails repeatedly -&gt; kubelet restarts the container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Readiness probe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Fails -&gt; pod is pulled out of Service load balancing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Startup probe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Gives slow-booting apps time before liveness kicks 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ReplicaSet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Pod deleted or node lost -&gt; a replacement is scheduled elsewhere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PodDisruptionBudget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Caps how many replicas maintenance may take down at once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Restart policy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Always / OnFailure / Never - per-pod crash behaviour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Service Discovery and Fan-Out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problem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Container IPs change constantly - hard-coded addresses always break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Cluster DNS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CoreDNS gives every Service a name: orders.default.svc.cluster.local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Consul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HashiCorp registry + health checks - Lab 5 uses it outside K8s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Loose coupling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Services call names, not IPs - instances swap freely underneath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Fan-out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request triggers parallel calls to many services - watch latency tails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services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Cloud-native design leans on provider-managed parts wherever possible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Managed Kubernetes and Alternatives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Best 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EKS / AKS / GKE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Kubernetes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Standard enterprise choice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AWS ECS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Proprietary orchestrator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Simpler, AWS-only shops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Fargate / Cloud Run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Serverless containers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 nodes to manage at all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HashiCorp Nomad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Lightweight scheduler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Mixed VM+container fleets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Docker Swarm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Built into Docker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Small clusters, easy start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5 - Microservices with Consul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Consul as the service registry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Deploy users, orders and payments 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Register each service with a health 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Resolve services by NAME via Consul DNS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Kill one - watch discovery route around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ORCHESTRATION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Cloud-Native Design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Microservices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Small, independently deployable services - one job each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Loose coupling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Services interact via APIs/queues; one failure does not cascade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Statelessness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State lives in databases/caches so replicas are interchangeable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services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Prefer RDS/SQS/Pub-Sub over self-run infrastructure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Horizontal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Scale out with more replicas, not bigger boxes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Observability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Logs, metrics, traces - you cannot heal what you cannot see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Component roles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 API server, etcd, scheduler, kubelet, kube-proxy cold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Pod IP churn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'Clients keep losing the backend IP' = use a Service, not pod 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Probe pairing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Restart = liveness; remove from LB = readiness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Scaling direction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More replicas = horizontal; bigger pods/nodes = vertical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Workload orchestration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CV0-004 term for scheduling containers at scale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No-ops containers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'Run containers without managing servers' = Fargate/Cloud Run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Orchestration is declarative: you state the goal, controllers close the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Desired state in etcd, reconciliation loops enforcing it, Services giving stable names to mortal pods - that is Kubernetes in one sentence.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1.6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Database Fundamentals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Relational vs non-relational, ACID vs BASE, CAP, managed database services and caching.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Relational vs Non-Relational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Relational (SQL)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Non-relational (NoSQL)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Tables, rows, fixed schema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Joins and foreign keys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SQL query language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Strong consistency (ACID)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PostgreSQL, MySQL, SQL Server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Flexible / schema-on-read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Denormalised, no joins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API or query-DSL access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Scales out horizontally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MongoDB, DynamoDB, Redis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Relational Concepts to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Schema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Structure defined up front - columns, types, constraints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Primary key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Unique row identifier; foreign keys link tables together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Joins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Combine tables at query time - the relational superpower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Normalisation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Store each fact once - integrity over raw speed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Transactions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Multi-step changes commit or roll back as one unit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Scale pattern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Scale UP first; read replicas and sharding come later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ACID vs 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ACID (relational)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BASE (NoSQL)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Stands for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Atomic Consistent Isolated Durable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Basically Available, Soft state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Consistency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Immediate, every read is current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Eventual - replicas converge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Priority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Correctness of every transaction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Availability and scale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Typical use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Banking, orders, inventory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Feeds, sessions, telemetry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Cost of choice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Harder to scale out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Stale reads are possible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CAP Theorem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 - Consistency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node answers with the same, latest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 - Availability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request gets an answer, even during trouble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 - Partition tolerance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system survives network splits - non-negotiable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trade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During a partition you choose: consistent (CP) or available (AP)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CP examples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Spanner-style systems refuse stale answers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 examples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DynamoDB and Cassandra answer now, reconcile later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NoSQL Families, Part 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Key-value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Value looked up by key - fast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Sessions, carts, feature flags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Redis, DynamoDB, etcd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Millisecond reads at any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JSON documents, flexible fields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Catalogues, profiles, content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MongoDB, Firestore, Cosmos DB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Query inside the document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Graph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Nodes + edges = relationships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Fraud rings, social graphs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Neo4j, Amazon Neptune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Traversals beat SQL joins here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NoSQL Families, Part 2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Column-family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Cassandra, HBase, Bigtable - wide rows, huge write throughput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Time-series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Timestream, InfluxDB - metrics and IoT telemetry with retention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In-memory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Redis, Memcached - microsecond access, doubles as a cache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Search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OpenSearch, Elasticsearch - full-text and log analytics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Ledger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Amazon QLDB - immutable, cryptographically verifiable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warehouse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Redshift, Synapse, BigQuery - analytical SQL over huge sets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Managed Database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Relational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RDS / Aurora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SQL Database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SQL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Key-value/doc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DynamoDB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Cosmos DB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Firestore / Bigtable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In-memory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ElastiCache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Cache for Redis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Memorystore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Global relational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Aurora Global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Cosmos (multi-model)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Spanner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Warehouse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Redshift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Synapse Analytics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BigQuery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99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Self-Managed vs Provider-Managed (DBaaS)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Self-managed (DB on a VM)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Provider-managed (DBaaS)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You: install, patch, back up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Full engine and OS control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Any version, any extension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You own failover design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Lab 8 runs Postgres this way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Provider: patching, backups, HA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Multi-AZ failover is a checkbox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Point-in-time restore built in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Less OS access, version limits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You still own schema +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Caching in Front of the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cache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Serve hot reads from RAM - cuts latency and database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Cache-aside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 checks cache first; on miss, read DB then populate the cache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Read-through / write-through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cache itself loads or writes to the DB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TTL + eviction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Entries expire; LRU evicts when memory fills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Invalidation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hard part - stale cache = wrong answers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ElastiCache, Azure Cache for Redis, Memorystore, CDN for HTTP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a Database in a Scenario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Transactions + joins needed? -&gt; relational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Flexible JSON entities? -&gt; document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Key lookups at massive scale? -&gt; key-value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Relationship traversal? -&gt; graph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Sub-ms repeated reads? -&gt; in-memory cache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DATABASES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Database Availability Patterns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Multi-AZ standby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Synchronous replica in another AZ; automatic failover (RDS Multi-AZ)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 replicas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Async copies that serve reads - scale reporting, not writes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Automated backups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Daily snapshot + transaction logs = point-in-time restore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Cross-region replica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DR and low-latency reads for global users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Connection pooling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RDS Proxy / PgBouncer protect the DB from connection storms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8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Compare self-managed Postgres with a managed-style MongoDB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Databases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Consistency wording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'Every read must be current' = ACID/relational; 'eventual' = NoSQL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Replica direction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Read replicas scale READS only - writes still hit the primary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Multi-AZ vs replica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Multi-AZ = availability; read replica = performance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Schema flexibility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'Fields differ per record' = document database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split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DBaaS: provider runs the engine, you own schema, queries, data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Cache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'Same query, repeated, slow' = add Redis/Memcached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Pick the database for the data shape - not the one you already know.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Relational for transactions and joins, NoSQL for scale and flexible schemas, cache for hot reads - and let the provider run it unless you truly need the 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1.7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Resource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Right-sizing, autoscaling, storage tiering, licensing and performance testing - matching resources to real demand.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Optimize Cloud Resources?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Waste is the default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Industry studies put idle or oversized cloud spend around 30%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Lift-and-shift bloat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On-prem servers were sized for peak+growth; clouds bill that 24/7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Elasticity unused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Fixed fleets in an elastic cloud pay for capacity nobody uses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Performance too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Undersized resources cause throttling - optimization cuts both ways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Continuous job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Workloads drift; sizing is reviewed on a cycle, not once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Tooling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Compute Optimizer, Azure Advisor, GCP Recommender do the analysis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Right-Sizing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Baseline: collect CPU, RAM, IOPS, network metrics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Analyze: find under- and over-provisioned resources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Resize: change instance type or tier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Validate: re-test against the baseline and SLA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Repeat on a schedule - workloads drift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Vertical vs Horizontal Scaling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Vertical (scale up/down)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Horizontal (scale out/in)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Bigger instance: more vCPU/RAM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Usually needs a restart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Hard ceiling: biggest size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Fits monoliths and databases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More instances of the same size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 downtime to add capacity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Near-limitless headroom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Needs stateless app design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The cloud-native default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Compute Choices per Workload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Virtual machine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Steady, long-running services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Full OS control, any software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Pick the right family: C/M/R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Pair with reserved pricing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Container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Microservices, batch, CI jobs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Bin-packing raises utilisation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Scales in seconds not minutes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ECS/EKS/AKS/GKE/Cloud Run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Serverless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Spiky or rare event workloads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Zero idle cost, per-ms billing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Mind cold starts + time caps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Lambda, Functions, Cloud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Compute and Memory Optimization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Instance families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General (M), compute (C), memory (R/X), GPU (P/G) - match the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Burstable instances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T-series bank CPU credits - cheap for idle-mostly workloads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Throttling signals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Exhausted credits or CPU steal = time to move up a family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Memory pressure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Swapping and OOM kills mean the tier is too small - not 'more nodes'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Newer generations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Same specs, lower price - migrating generations is free money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Graviton / ARM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ARM instances often cut compute cost ~20% for supported stacks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Autoscaling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Dynamic / target tracking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Hold a metric at a target, e.g. keep average CPU at 60%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Known patterns: scale up 9am weekdays, down at night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Predictive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ML forecasts demand and warms capacity ahead of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Min / max bounds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Floor guarantees availability; ceiling caps the bill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Cooldown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Pause between actions so metrics settle - prevents flapping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Scale-in protection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 stateful or draining instances from being culled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Storage Optimization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IOPS vs throughput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Small random ops need IOPS (SSD); big sequential needs MB/s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Volume types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gp3 general SSD, io2 provisioned IOPS, st1/sc1 cheap HDD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Lifecycle policies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Auto-move objects hot -&gt; cool -&gt; archive as they 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Delete the dead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Orphaned volumes, old snapshots and stale buckets bill forever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Thin provisioning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Allocate on write - present more than you physically hold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4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benchmark block, object and file stores with fio to see the tiers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Storage Tiers Across Providers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Tier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 S3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 Blob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 Storage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Hot - frequent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Standard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Standard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Warm - monthly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Standard-IA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Cool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Nearline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Cold - quarterly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Glacier IR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Cold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Coldline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Archive - yearly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Glacier Deep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Archive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Archive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Trade-off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Cheaper storage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= pricier access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+ retrieval delay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114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Network Optimization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Latency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Round-trip delay - place compute near users and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Throughput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Bits per second - scales with instance size in most clouds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Same-AZ traffic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 chatty tiers in one AZ where HA allows - cross-AZ is billed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CDN offload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Serve static content from the edge, shrink origin egress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Placement groups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Cluster placement gives lowest inter-node latency for HPC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Enhanced networking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SR-IOV/ENA instances for packet-rate-hungry workloads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Licensing Considerations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License-included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Pay the license inside the hourly rate - Windows/SQL on RDS or EC2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BYOL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Bring your own license - reuse what you already bought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Hybrid Benefit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Apply on-prem Windows/SQL licenses to Azure VMs for big savings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Per-core traps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Core-licensed software punishes oversized instances twice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Dedicated hosts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Some vendor terms require a dedicated physical host to comply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Mobility rules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Check the vendor allows the license to move to cloud at 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Performance Testing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Baseline normal load - your reference numbers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Load test at expected peak traffic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Stress test past peak until it breaks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Soak test for hours - find leaks and drift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to SLA, fix, re-run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Optimization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Right-size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Cheapest optimization: resize before you re-architect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Scale direction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'Add more servers' = horizontal; 'bigger server' = vertical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IOPS vs throughput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Databases = IOPS; video/backup streams = throughput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Tier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'Rarely accessed, must keep' = archive tier + retrieval delay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Spiky workload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Unpredictable bursts = autoscaling or serverless, not big VMs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License question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Existing licenses + cloud move = BYOL / Hybrid Benefit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Measure, resize, repeat: optimization is a loop, not a project.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Baseline metrics drive right-sizing; autoscaling absorbs the peaks; tiering ages the data down - and every step is validated against the SLA.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DOMAIN 1 · TOPIC 1.8 · EXAM WEIGHT 23%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Billing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Pricing models, CapEx vs OpEx, tagging, chargeback, budgets, egress costs and TCO.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1.8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CapEx vs OpEx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CapEx (own 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OpEx (rent it)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Buy servers, storage, licenses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Large upfront investment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Depreciates over 3-5 years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Capacity fixed at purchase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Traditional data centre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Pay monthly for what you use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 upfront commitment needed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Fully expensed as incurred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Capacity follows demand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The cloud's core financial pitch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Pricing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On-demand / PAYG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Full list price, zero commitment - default and most flexible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Reserved instances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1 or 3-year commitment for up to ~72% off - steady workloads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Savings plans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Commit to $/hour of spend, keep flexibility across instance types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Spot instances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Spare capacity up to ~90% off - reclaimable at short notice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Dedicated host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whole physical server to yourself - compliance and BYOL cases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Free tiers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Always-free and 12-month allowances - fine for labs, not production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a Pricing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Discount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Commitment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Best for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On-demand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Unknown or spiky loads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Reserved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Up to ~72%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1-3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Steady 24/7 baseline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Savings plan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Up to ~66%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$/hr, 1-3 yrs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Evolving instance mix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Spot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Up to ~90%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 - can vanish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Batch, CI, fault-tolerant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Dedicated host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Negative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Often 1-3 yrs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Licensing / compliance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Resource Metering - What You Pay For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Compute time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Per-second or per-hour while instances run - stopped = not billed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Storage volume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GB-month for disks, objects and snapshots - even when idle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Requests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API calls, function invocations, queue messages - per million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transfer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Egress and cross-zone GB - the classic surprise line item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Provisioned extras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IOPS, throughput, static IPs, NAT gateways bill separately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Metering feeds billing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meter flows into the invoice - and into chargeback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Egress: The Hidden Cost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Ingress is free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INTO the cloud costs nothing - providers want your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Egress is billed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OUT to the internet runs roughly $0.09/GB on major clouds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Cross-AZ / region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Traffic between zones and regions is billed both directions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NAT processing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NAT gateways add a per-GB processing fee on top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CDN mitigation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Edge caching converts origin egress into cheaper CDN egress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Lock-in effect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Egress fees make mass data exit expensive - plan before you load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Chargeback vs Showback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Chargeback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Showback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Departments PAY their usage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Real budget transfers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Strong accountability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Needs accurate tagging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Can cause turf disputes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Departments SEE their usage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Visibility without invoicing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Educates before enforcing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Common first step to FinOps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Same tagging discipline needed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Tagging for Cost Allocation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a tag taxonomy: owner, project, env, cost-centre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Enforce at creation - policies block untagged resources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Activate cost-allocation tags in billing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Group the bill by tag per team and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Review, chargeback, and fix untagged spend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Cost Visibility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Cost Explorer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Filter and group spend by service, tag, account, time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Cost Management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Same role for Azure; scopes to subscriptions and groups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GCP Billing reports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BigQuery export enables custom cost analytics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Anomaly detection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ML flags unusual spend before month-end shock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Rightsizing advisors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Compute Optimizer / Advisor recommend cheaper shapes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Third-party FinOps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CloudHealth, Cloudability aggregate multi-cloud bills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Budgets, Alerts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Budgets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Budgets, Azure budgets, GCP budget alerts - set monthly limits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Threshold alerts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Notify at 50/80/100% of budget - actual AND forecasted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Budgets can trigger automation - stop dev instances at the cap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quotas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Hard limits stop runaway resource creation entirely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Billing alarms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CloudWatch alarm on estimated charges is the classic exam answer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Free-tier alerts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Catch the moment a lab account starts costing real money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Total Cost of Ownership (TCO)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What TCO includes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Hardware, licenses, power, cooling, space, staff, migration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Cloud-side costs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Compute, storage, egress, support plans, training, FinOps 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Hidden on-prem costs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Refresh cycles, over-provisioning, downtime, opportunity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Comparison window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Model 3-5 years - one month proves nothing either way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Calculators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Azure TCO Calculator, AWS Pricing Calculator, GCP pricing tools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Honest inputs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TCO studies are only as good as the assumptions fed 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1 -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Three Pillars of Cost Optimization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Right-size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Match resources to real usage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Downsize idle, upsize starved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Newer generations, ARM chips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Links back to Topic 1.7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Commit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Reserve the steady baseline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Savings plans for flexibility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Spot for interruptible work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Blend all three deliberately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Eliminate waste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Kill zombie VMs and volumes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Schedule dev/test off-hours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Tier and expire old data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Tag so waste has an 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Billing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Model matching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Steady = reserved; spiky = on-demand; interruptible = spot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Spot warning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Never put stateful or must-finish work on spot instances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CapEx/OpEx cue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'Move upfront cost to monthly expense' = cloud OpEx argument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Egress direction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IN free, data OUT billed - watch question wording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Tag purpose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Cost allocation and chargeback start with mandatory tagging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Surprise bill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First response: budgets + alerts + Cost Explorer, not migration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7C3AED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Visibility first: you cannot manage a bill you cannot attribute.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Tag everything, budget with alerts, reserve the baseline, spot the batch work - and remember data walks in free but pays to leave.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Service Models &amp; Shared Responsibility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a local stand-in for each cloud service model and articulate who is responsible for what under the shared responsibility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four service models — IaaS, PaaS, SaaS, FaaS — and what each abstracts away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Shared responsibility: who owns data, app, runtime, OS and hardware at each layer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FaaS traits: event-driven, scales to zero, billed per invocation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Mapping real services (EC2, managed Postgres, M365, Lambda) to each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base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IaaS simulation (bare Ubuntu container)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PaaS simulation (managed Postgres)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SaaS simulation (Nextcloud)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FaaS simulation (Python handler)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Map the responsibility matrix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50592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50592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18688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18688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813048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13048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nginx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68012" y="5870448"/>
            <a:ext cx="126644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68012" y="5870448"/>
            <a:ext cx="126644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postgres:16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044184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4184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nextcloud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High Availability with HAProxy &amp; Keepalived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Build a health-checked load balancer across two AZ backends and add VRRP failover so a virtual IP survives a load-balancer failure.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Multi-AZ load balancing and round-robin distribution across backends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Active health checks that auto-remove unhealthy instances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Keepalived / VRRP floating virtual IP (VIP) for LB redundancy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Active-passive HA: the BACKUP node takes the VIP when the MASTER dies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HAProxy &amp; Keepalived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Launch two backend 'AZ' web servers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Configure HAProxy with health checks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Verify load balancing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Simulate an AZ failure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Add Keepalived for VRRP failover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HAProxy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37460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37460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Keepalived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26764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26764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768596" y="5870448"/>
            <a:ext cx="135331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68596" y="5870448"/>
            <a:ext cx="13533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nginx:alpine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31636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31636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Networking with VPC 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Construct a full VPC — two subnets, a router, a security-group rule and a NAT gateway — entirely from Linux network namespaces.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VPC/subnet is a kernel network feature (network namespace = subnet)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Route tables, default routes and IP forwarding for inter-subnet routing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Security groups operate per-flow at L3/L4 (iptables = AWS SG / Azure NSG)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NAT gateway (MASQUERADE) lets private subnets reach the internet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the VPC subnets (namespaces)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Wire the subnets to the router (veth pairs)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Add default routes (route table)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Add a security-group rule (deny ICMP B→A)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Add a NAT gateway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196138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19613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iproute2 (ip netns)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79876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79876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iptables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95444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95444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sysctl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37276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37276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Storage Tiers (Block, Object, File)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Create one block, one object and one file store locally, then benchmark IOPS to explain why storage tiers (and their prices) differ.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Three storage types: block (EBS), object (S3), file (EFS/Azure Files)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Object storage is key-addressed over HTTP with no filesystem; file is POSIX/NFS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Measuring random-write IOPS with fio to compare tier performance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Hot / warm / cold / archive tiering and how cost follows performance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BLOCK device (EBS-like)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an OBJECT store with MinIO (S3-like)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FILE share with NFS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Compare IOPS between tiers with fio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Tier mapping table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fio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89988" y="5870448"/>
            <a:ext cx="178765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9988" y="5870448"/>
            <a:ext cx="178765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losetup/mkfs.ext4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87368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87368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MinIO + mc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76672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76672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NFS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5790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5790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Microservices &amp; Service 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Deploy three loosely-coupled microservices behind Consul and demonstrate name-based service discovery, fan-out and resilience under a single failure.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Services register / deregister with a service registry (Consul)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Clients resolve services by name (users.service.consul), not IP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Fan-out pattern: one request triggers parallel calls to many services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Loose coupling: killing one service leaves the others running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 &amp; create a network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Consul (registry)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Deploy three microservices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Register them with Consul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Discover a service by name (DNS)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Fan-out call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Kill one service — others survive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170078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170078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HashiCorp Consul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19272" y="5870448"/>
            <a:ext cx="213512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19272" y="5870448"/>
            <a:ext cx="21351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bridge network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564124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564124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332220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32220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26580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26580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Containerization with Docker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Practise every core containerization sub-objective — build/run/expose, ephemeral vs persistent storage, public/private registries and a Compose preview.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Image lifecycle: build, tag, run, push (Dockerfile FROM/COPY/EXPOSE)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Port mapping (-p host:container)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Ephemeral storage vs persistent volumes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Public vs private image registries (Docker Hub vs a local registry:2)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Build a custom image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Stand-alone run with port mapping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Ephemeral storage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Persistent volume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Pull from a public registry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a private registry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Compose orchestration preview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50592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50592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Dockerfile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739896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739896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registry:2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0" y="5870448"/>
            <a:ext cx="152704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0" y="5870448"/>
            <a:ext cx="1527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Compose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Virtualization with QEMU/KVM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Create and clone a QEMU VM to understand core virtualization concepts and contrast VMs with containers.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Hypervisor virtualization vs containerization (own kernel vs shared kernel)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qcow2 copy-on-write disks and linked clones (basis of snapshots/templates)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Hardware-assisted virtualization (Intel vmx / AMD svm)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VM network types (user-mode NAT vs bridged) and host affinity / CPU pinning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QEMU &amp; libvirt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virtual disk (qcow2)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Clone the disk (linked clone)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Examine host virtualization capability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Boot a tiny VM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VM network types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Host affinity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VM vs Container summary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QEMU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276856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276856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qemu-img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92424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92424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libvirt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421124" y="5870448"/>
            <a:ext cx="135331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21124" y="5870448"/>
            <a:ext cx="13533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bridge-utils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84164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884164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Alpine ISO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7C3AED"/>
                </a:solidFill>
                <a:latin typeface="Arial"/>
              </a:rPr>
              <a:t>DOMAIN 1 · CLOUD ARCHITECTURE · LAB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Relational vs Non-Relational Databases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and compare a self-managed relational DB against a document DB to learn when to choose each and how managed services shift responsibility.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Relational model: strict schema, ACID, foreign keys, JOINs (Postgres)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Document model: schemaless, nested documents, built-in sharding (MongoDB)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Self-managed vs provider-managed responsibility split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Workload-to-engine selection and provider-managed equivalents (RDS, Cosmos…)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7C3AED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Self-managed Postgres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relational schema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Provider-managed-style MongoDB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Compare strengths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Provider-managed equivalents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C3AED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50592" y="5870448"/>
            <a:ext cx="2048255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50592" y="5870448"/>
            <a:ext cx="2048255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PostgreSQL 16 + psql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08575" y="5870448"/>
            <a:ext cx="178765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08575" y="5870448"/>
            <a:ext cx="178765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MongoDB + mongosh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2  · 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Deployment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Provisioning and configuring cloud resources: deployment models, zero-downtime release strategies (blue-green, canary, rolling), Infrastructure as Code, Configuration as Code and scripting logic.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19% OF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989963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Public, Private &amp; Hybrid Cloud Models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Public (multi-tenant, pay-per-use) vs private (single-tenant, high CapEx)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1989963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Blue-Green Deployment with Nginx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Blue-green keeps two parallel environments; cutover is a config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46654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153537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Canary Deployment with HAProxy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Canary = a small percentage of real traffic on the new version first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46654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153537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Rolling Deployment with Docker Compose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Rolling = replace replicas one (or a batch) at a time while others serve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10228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431711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Infrastructure as Code with Terraform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IaC: declarative configuration becomes real cloud resources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110228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431711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Configuration as Code with Ansible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Configuration as Code: YAML playbooks declare desired state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73802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4984" y="5480685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09928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JSON &amp; YAML Scripting Logic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Read, write, validate and convert JSON and YAML (same data, two formats)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 Labs —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Labs 9–11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9: Public, Private &amp; Hybrid Cloud Models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10: Blue-Green Deployment with Nginx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11: Canary Deployment with HAProxy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Labs 12–14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12: Rolling Deployment with Docker Compose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13: Infrastructure as Code with Terraform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14: Configuration as Code with Ansible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Labs 15–15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15: JSON &amp; YAML Scripting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DOMAIN 2 · TOPIC 2.1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System Requirements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Analyse business, compliance, sizing and dependency requirements before any workload moves to the cloud.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2.1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Requirements Come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Business alignment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migration succeeds only if it serves a business goal: cost, agility, reach or resilience.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Avoid rework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Undersized or non-compliant deployments must be rebuilt - requirements analysis prevents this.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Predictable cost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Sizing from real measurements stops bill shock from oversized instances and egress fees.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Measurable success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Requirements become the success criteria the deployment test plan will verify.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Requirements Analysis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Capture business needs and constraints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Inventory systems and map dependencies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Baseline and size CPU, RAM, storage, network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Check compliance and data sovereignty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SLAs, RTO/RPO and success criteria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Business Requirement Inputs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model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CapEx to OpEx shift, budget ceilings, chargeback or showback expectations.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Time to market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How fast must new environments appear? Hours in cloud vs weeks on-premises.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Expected growth, seasonal peaks, and whether bursting is acceptable.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Availability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Target uptime (e.g. 99.9%) drives multi-AZ and load-balancing decisions.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User locations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Where users sit decides regions, edge/CDN use and latency budgets.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Skills on hand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Team expertise may favour one provider, managed services, or IaC tooling.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Functional vs Non-Functional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Functional (what it does)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Non-functional (how well)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Application features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process orders, serve web pages, run reports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Integrations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APIs, message queues, partner links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Data handling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what is stored, transformed, archived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Performance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response time, IOPS, throughput targets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Availability &amp; DR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uptime %, RTO and RPO commitments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Security &amp; compliance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encryption, residency, audit requirements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149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Compliance and Data Sovereignty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Regulations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GDPR, HIPAA, PCI DSS shape where data lives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Singapore PDPA governs personal data here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Provider must hold matching attestations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Data sovereignty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Data subject to laws of the country it sits in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Pick regions to satisfy residency rules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e.g. AWS ap-southeast-1, Azure Southeast Asia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SOC 2, ISO 27001 reports from the provider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Artifact / Azure Trust Center portals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Contracts and DPAs document obligations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Sizing the Four Resource Dimensions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Dimension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Measure on-premises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Cloud lever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CPU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Peak &amp; average utilisation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vCPU count, instance family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RAM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Working set, page/swap rate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Memory-optimised instances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Storage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Capacity, IOPS, growth rate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Volume type, tier, IOPS class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Network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Throughput, latency, egress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NIC speed, placement, CDN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Baselines Drive Sizing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Measure normal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baseline records CPU, RAM, storage and network under normal operations over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Size for peaks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Capture peak windows (month-end, campaigns) - averages alone cause under-provisioning.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Access windows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9-to-5 vs 24/7 access changes both sizing and the chance to scale down off-hours.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Verify after move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Post-migration tests compare cloud results against the same baseline metrics.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Dependency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the network to inventory hosts and services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Trace app-to-app and app-to-database traffic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Draw the dependency graph per application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Group tightly coupled systems into move waves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Discovery and Assessment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Nmap / Zenmap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Open-source scanner that finds hosts, open ports, services and OS versions.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Application Discovery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Agent or agentless discovery feeding AWS Migration Hub move groups.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Migrate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Discovers VMware/Hyper-V/physical servers, maps dependencies, sizes targets.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Google Migration Center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Fleet discovery plus TCO reports for moves onto Google Cloud.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Environment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Environment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Purpose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Sizing / 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Development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Build features, experiment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Small, synthetic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Test / QA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Functional &amp; regression tests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Medium, masked data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Staging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Production rehearsal, UAT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Prod-like, prod-shaped data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Production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Live users and real data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Fully sized, HA, monitored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155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Selecting Target Hosts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Shared tenancy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Dedicated tenancy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Default multi-tenant hardware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lowest cost, provider manages placement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Fine for most workloads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noisy-neighbour risk is largely mitigated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Fast to provision and 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Dedicated Hosts / Instances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AWS Dedicated Hosts, Azure Dedicated Host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Needed for some licences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per-socket or per-core licence terms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Compliance isolation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physical separation for strict regulation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156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Licensing Considerations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BYOL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Bring Your Own Licence reuses existing Windows/SQL/Oracle licences - check mobility rights.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Licence-included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Pay-as-you-go images bundle the licence in the hourly price - zero admin.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Hybrid Benefit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Applies on-prem Windows/SQL licences with Software Assurance to cut Azure cost.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Per-core traps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Some vendors count physical cores - dedicated hosts may be required to comply.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157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SLA, RTO and RPO as Inputs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Provider's committed service level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e.g. EC2 region SLA 99.99%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Stacked SLAs multiply - compute the chain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RTO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Max tolerable time to restore service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Drives hot/warm/cold DR design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Low RTO means standby capacity costs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Max tolerable data loss window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Drives backup and replication frequency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RPO near zero needs synchronous replication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158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Requirements Document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Business goals, budget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and timeline sign-off from stakeholders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System inventory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dependency map and move groups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Sizing table per workload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vCPU, RAM, storage type/IOPS, network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Compliance matrix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regulation, control, region, evidence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Environment plan (dev/test/stage/prod)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and licensing model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SLA targets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RTO/RPO per application tier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159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Requirements Become the Test Plan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success criteria from the requirements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Build the deployment testing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Execute sizing, performance and access tests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results to baseline and SLA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Document and sign off the deployment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160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SYSTEM 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Common Requirements Pitfalls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Lift-and-shift oversizing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Copying on-prem specs 1:1 ignores that cloud can right-size and autoscale.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Forgetting egress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transfer out of the cloud is billed - chatty hybrid apps get expensive.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Hidden dependencies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 unmapped licence server or DNS dependency breaks the app after cutover.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Compliance as afterthought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Retrofitting residency or encryption is far costlier than designing it in.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161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System Requirements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Scenario keywords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"Data must remain in-country" points to sovereignty and region selection.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RTO vs RPO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RTO = time to recover, RPO = data you can lose. Expect at least one question.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sizing question: measure a baseline before choosing instance sizes.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 the envs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Dev, test, staging, production - order, purpose and data sensitivity.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162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Requirements are the contract every deployment is tested against.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Business needs, compliance, baseline-driven sizing, dependencies and SLA/RTO/RPO targets must all be written down before the first resource is provisioned.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163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DOMAIN 2 · TOPIC 2.2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Infrastructure as Code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Deploy and configure cloud resources with code: Terraform, Ansible, GitOps, JSON and YAML.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2.2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164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Infrastructure as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Repeatability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same code produces the same environment every time - no snowflake servers.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Versioning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Infrastructure lives in Git: history, blame, rollback to any known-good state.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Code can be linted, validated and test-deployed before touching production.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Documentation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code IS the documentation - always current, unlike wiki diagrams.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Drift detection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 compare real infrastructure to code and flag manual changes.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Speed &amp; scale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Whole environments appear in minutes and can be stamped out per team.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165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Declarative vs Imperative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Declarative (desired state)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Imperative (step by step)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You describe WHAT you want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"one bucket, versioning enabled"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Tool computes how to get there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create, update or delete as needed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Terraform, CloudFormation, ARM/Bicep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You script HOW to do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"run aws s3 mb, then put-versioning"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You handle ordering and errors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re-running may duplicate or fail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CLI scripts, Bash, Python SDK calls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166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IaC Tool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Terraform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Multi-cloud, declarative HCL, huge provider ecosystem - the de facto standard.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CloudFormation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AWS-native templates in JSON or YAML, organised into stacks.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ARM / Bicep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Azure-native; Bicep is the friendlier language compiling to ARM JSON.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Google Cloud DM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Deployment Manager and the newer Infrastructure Manager (Terraform-based).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Pulumi / CDK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Define infrastructure in real languages: Python, TypeScript, Go.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Ansible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Configuration as Code - configures what IaC provisions (Lab 14).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167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 · LAB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Terraform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- declare resources in .tf files (HCL)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init - download providers, set up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plan - preview adds, changes, destroys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apply - execute the plan, record state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destroy - tear everything down cleanly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168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Terraform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terraform.tfstate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Maps code to real resource IDs - Terraform's memory of what it manages.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Remote backends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Store state in S3 + DynamoDB lock, Azure Storage or Terraform Cloud for teams.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State locking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Prevents two engineers applying at once and corrupting the state.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Never hand-edit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terraform state commands; a broken state file orphans real resources.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169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 · LAB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Drift Detection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Code applied - infrastructure matches 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Someone changes a resource in the console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terraform plan refreshes and reports the drift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apply reverts it - or the code is updated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Repeatability, Versioning,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Repeatability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Same code, same result, any region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Modules stamp out reusable patterns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Kills 'works on my environment' bugs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Versioning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Git history of every infra change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Tag releases; roll back via revert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Pin provider versions to avoid surprises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Testing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terraform validate and fmt in CI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Lint with tflint / checkov for security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Plan output reviewed before merge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171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IaC vs Configuration as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IaC - provisions infrastructure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CaC - configures systems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Creates the resources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VMs, networks, buckets, load balancers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Declarative desired state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Terraform, CloudFormation, Bicep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Answers: does it exist?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Configures what exists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packages, files, services, users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Idempotent task execution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Ansible, Chef, Puppet, cloud-init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Answers: is it set up right?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172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CAC · LAB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Ansible Essentials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Playbook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YAML file describing the desired configuration as ordered plays and tasks.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Inventory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list of managed hosts, grouped - e.g. [web], [db].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Module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Reusable unit of work: apt, copy, service, template and thousands more.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Agentless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Connects over SSH - nothing to install on the managed node.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Handlers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 only when notified, e.g. restart nginx after a config change.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Facts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Auto-gathered host details usable as variables in plays.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173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CAC · LAB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 Playbook Run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Read inventory - which hosts are in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Gather facts about each host over SSH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Execute tasks - each checks state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Report ok / changed / failed per task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Notified handlers run once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174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CAC · LAB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Idempotency - The Key CaC Property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Definition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Running the same playbook N times gives the same result as running it once.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changed=0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second run reports zero changes - proof the system already matches the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it matters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Safe to re-run on failure, on schedule, or across a mixed fleet.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Contrast scripts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raw 'apt install &amp;&amp; echo &gt;&gt; conf' script duplicates lines on every run.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175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Terraform vs Ansible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Terraform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Ansible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Primary job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Provision infrastructure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Configure systems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Style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Declarative HCL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YAML tasks (procedural)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Explicit state file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Stateless; checks live host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Connectivity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provider APIs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SSH / WinRM, agentless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Typical pair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Create the VM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Then install and configure 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176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GitOps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Git = source of truth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repo's main branch defines the desired state of the whole environment.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Change by pull request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All changes are reviewed and merged - the audit trail is the Git log.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Automated apply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pipeline or operator applies merged changes - humans never click consoles.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Continuous reconcile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Argo CD / Flux keep comparing live state to Git and heal drift automatically.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177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GitOps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Engineer opens a pull request with IaC change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CI runs validate, lint and terraform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Reviewer approves; change merges to main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Pipeline applies the change automatically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Reconciler watches for and heals drift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178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DATA FORMATS · LAB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JSON vs YAML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YAML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Braces, brackets, quotes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{"name": "web-1", "cpu": 2}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Strict - no comments allowed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Native to APIs and CloudFormation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Parsed with jq on the CLI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Indentation defines structure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name: web-1  /  cpu: 2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Comments with #, human-friendly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Native to Ansible, K8s, Compose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Parsed with yq; superset of JSON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179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SCRIPTING · LAB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Scripting Logic Primitives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Variables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Named values reused across a script or template, e.g. region = ap-southeast-1.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types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Strings, numbers, booleans, lists and maps - JSON and YAML share them all.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Conditionals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if/else branches: create the resource only when the environment is prod.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Operators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Comparison (==, &gt;), logical (and/or), arithmetic - drive the conditionals.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Functions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Reusable logic blocks; jq and Terraform both ship built-in functions.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Loops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Iterate lists to stamp out many similar resources (count / for_each).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180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IAC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IaC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Keep all IaC 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version control; review every change via pull request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Never hardcode secrets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 Vault, SSM Parameter Store or Key Vault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 modules/templates for repeated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patterns; pin tool and provider versions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fmt, validate and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security lint (tflint, checkov) in CI on every commit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 remote state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locking for any team of more than one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Practise the full cycle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 Labs 13 (Terraform), 14 (Ansible), 15 (JSON/YAML)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181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Infrastructure as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Declarative wins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"Describe the end state" = declarative; "list of commands" = imperative.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Idempotent = Ansible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Re-run safely with no side effects - the word to match to CaC.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Drift detection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terraform plan showing unexpected changes = drift from manual edits.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Format clues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Comments and indentation = YAML; braces and quotes only = JSON.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182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If it isn't in code, it doesn't exist - and if it drifted, plan will tell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IaC gives repeatability, versioning and testing; CaC adds idempotent configuration; GitOps makes Git the single source of truth for both.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183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DOMAIN 2 · TOPIC 2.3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Workload Migrations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Migration types, the 6 Rs, the five migration phases, data transfer options, cutover and rollback.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2.3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184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Migration Directions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On-prem to cloud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classic migration - retire hardware, gain elasticity and managed services.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to on-prem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Repatriation: cost, control or compliance pulls a workload back in-house.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to cloud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Move between providers to cut cost, exit lock-in or follow a merger.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Online migration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Users keep working during the move - data syncs, then a short cutover.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Offline migration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Access disabled during the move - needed when data consistency demands 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Storage migration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Move the data, then repoint every drive letter, mount and connection string.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185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Machine Conversion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Type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From &gt; 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Typical 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P2V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Physical &gt; Virtual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Classic move into cloud/hypervisor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V2V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Virtual &gt; Virtual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Change hypervisor or provider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V2P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Virtual &gt; Physical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Repatriate or dedicate hardware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P2P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Physical &gt; Physical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Hardware refresh via imaging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186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P2V Conversion Process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Generalise the OS (strip unique IDs, drivers)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Capture an image of the physical server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Convert the image to the target VM format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Inject virtual drivers and boot the VM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Validate apps and data, then cut over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187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THE 6 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6 Rs of Application Migration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Rehost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Lift-and-shift as-is onto cloud VMs. Fastest, least cloud benefit.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Replatform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Lift-tinker-shift: small upgrades like moving the DB to RDS on the way.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Repurchase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Drop and shop: replace with SaaS, e.g. Exchange to Microsoft 365.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Refactor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Re-architect to cloud-native: microservices, serverless. Max benefit, max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Retire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Decommission what nobody uses - typically 10-20% of an estate.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Retain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 on-premises for now: latency, compliance or recent investment.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188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THE 6 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Comparing the 6 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Effort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Cloud benefit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Example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Rehost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VM copied to EC2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Replatform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DB moved to Azure SQL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Repurchase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Low-Med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CRM replaced by Salesforce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Refactor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High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High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Monolith to Lambda/functions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Retire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Cost saving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Unused report server off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Retain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42202" y="5230368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70218" y="523036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65372" y="5230368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93388" y="523036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None (yet)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788542" y="5230368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16558" y="523036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Mainframe stays on-prem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189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THE 6 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Rehost vs Replatform vs Refactor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Same OS, same app, new location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MGN / Azure Migrate automate 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Good first wave; optimise later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Replatform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Swap components for managed services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Self-run MySQL becomes RDS/Cloud SQL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Modest change, real ops savings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Rewrite for cloud-native patterns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Containers, serverless, managed queues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Reserve for high-value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190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Five Migration Phases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 - inventory, dependencies, TCO, readiness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Plan - waves, targets, runbooks, rollback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Migrate - replicate, convert, move the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Validate - test against baseline and SLA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Optimize - right-size, automate, decommission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191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ASSESS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Assess: Know Before You Move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Inventory everything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Discovery tools list servers, apps, versions - you cannot migrate the unknown.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Map dependencies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App-to-DB and app-to-app links decide what must move together.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TCO comparison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Compare run cost on-prem vs cloud including licences, power and people.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Assign an 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Each application gets one of the 6 Rs - this IS the migration strategy.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192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Plan: Waves, Runbooks, Rollback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Move groups / waves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Batch tightly coupled systems; start with low-risk, low-dependency apps.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Runbook per wave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Step-by-step cutover script with owners, timings and checkpoints.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Rollback plan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wave has a tested way back - keep the source running until sign-off.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Schedule windows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Respect downtime impact, working hours, time zones and peak periods.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193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Online vs Offline Migration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Offline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Users keep working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continuous replication in background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Short cutover window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final delta sync, then switch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Best when data is external to the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System access disabled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guarantees data consistency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Simpler, but downtime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fits maintenance windows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Best when data is integral to the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194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 Transfer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 the Internet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HTTPS/SFTP or VPN - fine for small data; large sets take days or weeks.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Dedicated link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Direct Connect, Azure ExpressRoute, GCP Interconnect - fast and steady.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Shipped appliance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Snowball, Azure Data Box, Google Transfer Appliance for tens of TB.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Database migration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DMS / Azure DMS replicate live databases with minimal downtime.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195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a Transfer 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Data size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Bandwidth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Best 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&lt; 1 TB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Internet / VPN upload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1-10 TB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Fast (1 Gbps+)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Internet or dedicated link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10-100 TB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Limited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Shipped appliance (Snowball)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Petabytes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Truck-scale: AWS Snowmobile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Live database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Steady link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DMS continuous replication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196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Migration Considerations (Objective 2.3)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Compute &amp; storage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Will the target platform and formats fit? Convert VMDK/VHD as needed.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&amp; networking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Egress fees, new links, IP re-addressing and DNS changes.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Platform compatibility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OS versions, hypervisor formats and API differences between clouds.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Vendor lock-in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Proprietary services speed you up but raise the cost of leaving.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Environmental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Power and cooling shift to the provider - part of the TCO case.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Regulatory &amp; availability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Compliance evidence and service availability during the move.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197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CUTOVER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Cutover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Big bang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Everything switches in one window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Simple story, highest risk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Needs a full rehearsal first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Phased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Move app by app, wave by wave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Lessons from wave 1 improve wave 2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Hybrid links needed in between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Parallel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Old and new run side by side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Compare outputs before commit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Safest, costliest - double running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198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Rollback Planning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Define the trigger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Agree in advance what failure means: error rate, latency, data mismatch.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Keep the source warm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 not decommission until the new system passes validation and sign-off.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Mind the data delta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Writes made after cutover must flow back if you roll back - plan the sync.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Rehearse 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 untested rollback is not a rollback - practise in staging.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199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 · HYBRID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Hybrid Interoperability During Migration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Connectivity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Site-to-site VPN or dedicated link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IPSec tunnel bridges the two worlds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DNS spans both sides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split-horizon or conditional forwarding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Firewall rules for cross-site traffic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Federated identity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one login on-prem and in cloud (SSO)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Data synchronisation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replication keeps both sides current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Consistent monitoring and time (NTP)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200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Validate and Optimize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functional and performance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 results to the pre-move baseline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 SLA, security and compliance posture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Right-size instances from real usage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Decommission the source and stop paying twice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201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MIGRATIONS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Provider Migration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MGN + Migration Hub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Block-level replication of live servers into EC2, tracked centrally.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DMS / SCT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Database migration and schema conversion, homogeneous or cross-engine.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Migrate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hub for discovery, assessment, server, database and web app moves.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Google Migrate to VMs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Streams running VMs into Compute Engine with minimal downtime.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202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Migrations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Match the 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"Move unchanged" = rehost; "minor tweaks" = replatform; "rewrite" = refactor.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Retire vs retain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Retire = switch it off; retain = leave it running on-premises.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Big data, slow link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Tens of TB over limited bandwidth = shipped appliance, not upload.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Generalise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P2V/P2P questions: strip machine-unique IDs before imaging.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203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Assess, plan, migrate, validate, optimize - and never cut over without a rollback.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Pick one of the 6 Rs per application, choose online or offline, size the data pipe honestly, and keep the source until the new environment is signed off.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204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DOMAIN 2 · TOPIC 2.4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Resource Provisioning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Provision compute, storage and network, and release with zero downtime: blue-green, canary and rolling.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2.4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205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Provisioning Covers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Compute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VMs, containers and functions sized to the workload's CPU/RAM profile.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Storage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Block, file and object volumes with the right tier and IOPS class.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Network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VPCs, subnets, security groups, load balancers and public addressing.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Images &amp; templates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Golden images and IaC templates make every build identical.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Self-service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Catalogs let teams provision approved patterns on demand.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Quotas &amp; guardrails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Limits and policies stop runaway cost and shadow sprawl.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206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 · COMPUTE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Provisioning Compute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Instance families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General, compute-, memory- and storage-optimised - match the baseline profile.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Provider names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EC2, Azure Virtual Machines, GCP Compute Engine; sizes like m5.large / D4s_v5.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Beyond VMs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Containers (ECS/AKS/GKE) and serverless (Lambda / Functions / Cloud Run).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Purchase options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On-demand, reserved/savings plans, and spot/preemptible for interruptible work.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207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 · STORAGE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Provisioning Storage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Block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Disk for one VM: AWS EBS, Azure Managed Disks, GCP Persistent Disk.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13504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13504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1248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51248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6192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Shared POSIX/SMB shares: EFS, Azure Files, GCP Filestore.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9768" y="1783080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9768" y="1783080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87512" y="2571750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87512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2456" y="1892808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Object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HTTP-addressed blobs: S3, Azure Blob Storage, Cloud Storage.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09928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Hot, cool, cold, archive - price falls as retrieval time rises.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13504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413504" y="4110228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651248" y="4898898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51248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6192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IOPS classes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gp3 vs io2 on AWS: pay for provisioned IOPS only where needed.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9768" y="4110228"/>
            <a:ext cx="3361944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9768" y="4110228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87512" y="4898898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87512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82456" y="4219956"/>
            <a:ext cx="2209800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Lifecycle rules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Auto-move ageing objects to cheaper tiers, then expire them.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208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 ·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Provisioning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Virtual network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VPC, Azure VNet, GCP VPC - your private address space in the cloud.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Subnets &amp; zones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Public vs private subnets spread across availability zones for HA.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Security layers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Security groups (stateful, per-NIC) and network ACLs (stateless, per-subnet).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Front doors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Load balancers (ALB/NLB), gateways and public IPs expose services safely.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209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 · LAB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Deployment Models and Provisioning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Who runs 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Provisioning style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Public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Provider (AWS/Azure/GCP)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API/console, minutes, pay-per-use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Private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Your organisation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You own capacity; slower, full control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Hybrid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Both, connected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Provision each side + secure the link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Community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Shared by a sector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Shared governance and compliance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210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Self-Service Provisioning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User picks a product from the catalog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Policy checks quota, budget and approvals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 approved template provisions resources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Resources are tagged for cost and ownership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Monitoring and lifecycle rules attach automatically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211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 ·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Templates and Golden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Golden image / AMI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pre-built, hardened, patched machine image every instance launches from.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Provider galleries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AMIs, Azure Compute Gallery, GCP custom images - versioned and shared.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Packer builds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HashiCorp Packer builds identical images for multiple clouds from one file.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golden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Faster boot, consistent security baseline, no snowflake configuration.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212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 · IMAGES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Golden Image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Start from a trusted base OS 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Automate install + hardening (Packer/Ansible)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and test the candidate 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Publish a new version to the gallery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Fleets relaunch from the new version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213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PROVISIONING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Catalogs, Quotas and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catalogs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Service Catalog and Azure Managed Applications publish approved stacks.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Quotas / limits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Per-account service quotas cap instances, IPs, vCPUs - request raises ahead.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Policy guardrails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SCPs, Azure Policy, GCP Org Policy block non-compliant provisioning.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Tagging standards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Mandatory owner/env/cost-centre tags keep the bill explainable.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214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Deployment Strategies (Objective 2.2)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In-place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Overwrite the running version. Simple, but downtime and slow rollback.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Blue-green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Two full environments; flip all traffic at once. Instant rollback. Lab 10.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Canary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Send a small % to the new version, watch, then ramp up. Lab 11.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Replace instances a few at a time behind the balancer. Lab 12.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215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 · LAB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Blue-Green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Blue (v1) serves 100% of production traffic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Deploy green (v2) alongside, fully idle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green on its own private endpoint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Flip the router/LB - all traffic to 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blue on standby for instant rollback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216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 · LAB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Canary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Deploy v2 next to v1 behind the balancer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Weight traffic 90/10 toward the canary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Watch errors and latency on the 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Ramp 50/50, then 100% if healthy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Any regression: weight back to 0 instantly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217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 · LAB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Rolling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 N replicas of v1 behind the balancer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Take one replica out, upgrade it to 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Health-check, return it to the pool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Repeat replica by replica until done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Halt the roll if health checks fail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218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Release Strategy Trade-offs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1967377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Blue-green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9579" y="1828800"/>
            <a:ext cx="1967377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37595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Canary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76956" y="1828800"/>
            <a:ext cx="1967377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4972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Rolling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44333" y="1828800"/>
            <a:ext cx="1967377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72349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In-place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Extra capacity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2202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0218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2x (full copy)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09579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37595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Small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6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2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One batch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44333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72349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Downtime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42202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0218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09579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37595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76956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4972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4333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72349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Rollback speed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Instant flip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09579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37595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Instant reweight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76956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4972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Slow (re-roll)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44333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72349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Slow (redeploy)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Blast radius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All at once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09579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37595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Few users first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6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2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Batch at a time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4333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72349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Everyone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Cost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42202" y="4663440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70218" y="466344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Highest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509579" y="4663440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37595" y="466344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76956" y="4663440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04972" y="466344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444333" y="4663440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72349" y="466344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Lowest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219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Rollback per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Blue-green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Point the LB back at blue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Seconds, zero rebuild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Watch DB schema compatibility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Canary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Set canary weight to zero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Only the sampled users ever saw v2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Metrics define the abort trigger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Rolling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Roll the batches back to v1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Slower - mixed versions in flight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App must tolerate v1+v2 together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220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In-Place vs Zero-Downtime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In-place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Zero-downtime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Stop, upgrade, restart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maintenance window required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No extra infrastructure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Rollback = restore/redeploy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acceptable for internal/batch apps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Traffic shifts between versions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users never see an outage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Needs LB + spare capacity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Rollback = traffic re-route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the norm for customer-facing apps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221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RELEASE STRATEGIES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Provider Deployment Tooling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CodeDeploy blue-green, ALB weighted target groups for canary, ASG rolling.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 Service deployment slots swap = blue-green; Traffic Manager weights.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GCP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Managed instance group rolling updates; Cloud Run traffic splitting.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Kubernetes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Deployments roll by default; Argo Rollouts adds canary and blue-green.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222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Provisioning &amp; Releases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Two environments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"Switch all traffic at once, instant rollback" = blue-green.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Small percentage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"Test on 5% of users first" = canary; weights do the shifting.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One at a time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"Update instances gradually, no extra full copy" = rolling.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Downtime accepted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"Overwrite the current version" = in-place - the only one with downtime.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223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9E0B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Provision from templates, release with traffic shifting, and rollback is a routing change.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Golden images make builds identical; blue-green flips, canary samples, rolling replaces in batches - practise all three in Labs 10-12 on Killercoda.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224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Public, Private &amp; Hybrid Cloud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Simulate public (LocalStack), private (MinIO) and hybrid deployment models to compare their cost, control and elasticity trade-offs.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Public (multi-tenant, pay-per-use) vs private (single-tenant, high CapEx)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Hybrid: the same S3 API spans both clouds and enables cloud bursting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Community cloud is a policy/access concept, not new infrastructure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consistent API (S3) can span deployment models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Stand up a 'public' cloud (LocalStack)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Stand up a 'private' cloud (MinIO)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Hybrid: copy data between them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Community cloud concept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Decision matrix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LocalStack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98064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98064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MinIO + mc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87368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87368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AWS CLI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16068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6068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WireGuard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18504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18504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225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Blue-Green Deployment with Nginx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blue (v1) and green (v2) side by side and switch live traffic instantly via an Nginx reload to achieve zero-downtime deployment.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Blue-green keeps two parallel environments; cutover is a config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Atomic traffic cutover via 'nginx -s reload' with no dropped connections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Smoke-test the new version out of band before flipping traffic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Instant, symmetrical rollback; trade-off is 2× resources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Nginx &amp; Docker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Blue (v1) and Green (v2)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Point Nginx at Blue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Smoke-test Green out of band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Switch traffic to Green (cutover)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Instant rollback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Nginx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63724" y="5870448"/>
            <a:ext cx="213512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63724" y="5870448"/>
            <a:ext cx="21351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(nginx:alpine)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08576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08576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226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Canary Deployment with HAProxy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Gradually shift live traffic from v1 to v2 using HAProxy server weights to safely validate a new release before full promotion.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Canary = a small percentage of real traffic on the new version first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Weight-based routing (90/10 → 50/50 → 100%) = ALB weighted target groups / Istio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Gradual promotion and instant weight-reset rollback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Always pair canary with metrics and alerts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HAProxy &amp; Docker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v1 (stable) and v2 (canary)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HAProxy at 90/10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Increase to 50/50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Promote v2 to 100%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Rollback (kill the canary)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HAProxy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37460" y="5870448"/>
            <a:ext cx="213512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37460" y="5870448"/>
            <a:ext cx="21351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(nginx:alpine)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82312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82312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227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Rolling Deployment with Docker Compose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Deploy three load-balanced replicas and upgrade them one at a time to perform a zero-downtime rolling update.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Rolling = replace replicas one (or a batch) at a time while others serve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Produces a brief mixed-version window; cheaper than blue-green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Load balancing across replicas via HAProxy server-template + resolvers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Always pair with a readiness check before progressing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 Compose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Define the stack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Upgrade replicas one at a time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Compare strategies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08760" y="5870448"/>
            <a:ext cx="152704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08760" y="5870448"/>
            <a:ext cx="1527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Compose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145536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45536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HAProxy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74236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74236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228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Infrastructure as Code with Terraform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Write a Terraform config that provisions an S3 bucket on LocalStack and experience plan/apply, state, drift detection and versioning.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IaC: declarative configuration becomes real cloud resources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plan-before-apply workflow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Drift detection compares real vs desired 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State (terraform.tfstate) is the source of truth and must be stored safely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Terraform &amp; LocalStack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Write the Terraform configuration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Init, plan, apply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Drift detection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Version your code (Git)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Apply a change (test → apply)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Terraform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11196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11196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LocalStack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000500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00500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awslocal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16068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6068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797296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97296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229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Configuration as Code with Ansible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Write an Ansible playbook that installs and configures Nginx idempotently and prove drift correction.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Configuration as Code: YAML playbooks declare desired state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Idempotency — tasks only act when current state differs (changed vs ok)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Re-running restores desired state after manual tampering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Variables, conditionals (when:) and roles compose larger configs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Ansible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Define inventory (localhost)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Write a playbook (YAML)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First run (changes everything)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Idempotency test (run again)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Detect drift / repeatability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Variables &amp; conditionals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Roles preview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Ansible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37460" y="5870448"/>
            <a:ext cx="152704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37460" y="5870448"/>
            <a:ext cx="1527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ansible-galaxy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74236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74236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YAML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42332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42332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230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59E0B"/>
                </a:solidFill>
                <a:latin typeface="Arial"/>
              </a:rPr>
              <a:t>DOMAIN 2 · DEPLOYMENT · LAB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JSON &amp; YAML Scripting Logic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Parse, transform, validate and convert JSON ↔ YAML while exercising the exam's scripting-logic primitives.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Read, write, validate and convert JSON and YAML (same data, two formats)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Shared data types: string, number, boolean, array, object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Scripting-logic primitives: variables, conditionals, operators, functions (jq)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Validate at the boundary — fail early on malformed input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F59E0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parsers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Write JSON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Same data in YAML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Convert between formats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Variables, conditionals, operators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Validate at the boundary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Web validators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59E0B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03120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03120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yq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9748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69748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diff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5576" y="5870448"/>
            <a:ext cx="152704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65576" y="5870448"/>
            <a:ext cx="1527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web validators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231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3  ·  EXAM WEIGHT 17%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Running cloud systems day-to-day: observability (metrics, logs, traces), alerting, auto-scaling, backup &amp; disaster recovery, and patching / lifecycle management.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232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17% OF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Observability with Prometheus &amp; Grafana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Metrics pillar: Prometheus scrapes a source (node-exporter) on an interval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Centralized Logging with the ELK Stack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centralized logging pipeline: collect → ship → store → query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Distributed Tracing with Jaeger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Tracing is the third pillar of observability (metrics/logs/traces)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Horizontal Auto-Scaling Simulation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Three scaling trigger families: triggered/load-based, scheduled, manual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Backup &amp; Recovery with restic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Full vs incremental vs differential backup semantics and restore trade-offs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Patching &amp; Lifecycle Management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full lifecycle: provision → configure → monitor → patch → scale → backup → decommission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233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 Labs —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Labs 16–17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16: Observability with Prometheus &amp; Grafana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17: Centralized Logging with the ELK Stack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Labs 18–19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18: Distributed Tracing with Jaeger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19: Horizontal Auto-Scaling Simulation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Labs 20–21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20: Backup &amp; Recovery with restic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21: Patching &amp; Lifecycle Management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234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DOMAIN 3 · TOPIC 3.1 · EXAM WEIGHT 17%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Lifecycle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Provision, patch, scale and retire cloud resources on purpose - not by accident. Labs 19 and 21.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3.1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235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Cloud Resource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Provision - create the resource from image, template or IaC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Configure - harden, tag, connect, set backup and monitoring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Monitor - watch health, cost and utilisation against a baseline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Patch &amp; scale - keep current, resize to match real demand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Back up - protect state on a schedule you have tested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Decommission - retire cleanly at end of life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236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Lifecycle Management Matters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control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Unmanaged VMs and volumes keep billing forever - zombie resources are pure waste.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Security posture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Unpatched and forgotten systems are the classic breach entry point.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Predictable capacity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Planned scaling beats emergency firefighting when load spikes.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Compliance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Auditors ask for inventory, patch records and decommission evidence.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Repeatability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Documented lifecycle steps make every deployment look the same.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Clean exits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EoL systems leave data behind unless retirement is a managed process.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237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Ephemeral vs Persistent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Ephemeral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Persistent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Lives and dies with the instance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EC2 instance store, container scratch layer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Cache, temp files, session scratch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Never store the only copy here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Lost on stop, terminate or host failure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Survives the resource that used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EBS, Azure Managed Disks, GCP Persistent Disk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Databases, user files, application state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Plan backup and retention around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Detach and re-attach across instances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238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Three Ways to Provision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Console / CLI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Point-and-click or ad-hoc commands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Fast for one-offs and learning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Drifts and is hard to reproduce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Golden 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Pre-baked AMI / Azure Image / GCP image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Boot fast with software included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Images age - rebuild on a schedule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Infrastructure as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Terraform, CloudFormation, Bicep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Reviewed, versioned, repeatable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The Domain 5 way - default to this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239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PATCHING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Patch (Minor) vs Upgrade (Major)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Patch / minor update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Upgrade / major update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Fixes bugs and security flaws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1.24.0 to 1.24.5 - no behaviour change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Low risk, applied frequently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Often automated (unattended-upgrades)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Rollback is usually 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New features, breaking changes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1.24 to 1.25 - behaviour may change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Higher risk, needs regression testing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Planned as a change with approval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Rollback plan is mandatory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240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PATCHING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Patch Management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 - which CVEs and updates apply to your estate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- apply in a staging environment first, never prod-first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Schedule - book an approved maintenance window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Apply - roll out with automation, in batches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Validate - health checks and smoke tests confirm success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Rollback - revert fast if validation fails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241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PATCHING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Maintenance Windows Done Right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Low-traffic timing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Pick hours when user impact is minimal - and honour every region's clock.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Advance notice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Tell stakeholders what changes, when, and the expected impact.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Time-boxed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Window includes apply time PLUS full rollback 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Change freeze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No-change periods around peak events (year-end, product launch).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Automated windows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SSM Maintenance Windows, Azure Update Manager schedules.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Exit criteria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Define what 'healthy' looks like before you start.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242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PATCHING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Patch Rollout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How it works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Risk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Best for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Big bang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Patch everything at once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High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Small fleets, urgent CVEs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Rolling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Patch in batches behind an LB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Web farms, no downtime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Blue-green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Patch a clone, switch traffic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Fast rollback needs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Canary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Patch a small slice, observe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Risk-averse production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243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End of Life vs End of Support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End of Support (EoS)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Vendor stops fixes and help but the product still runs - risk starts climbing.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End of Life (EoL)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Product is fully retired - no patches ever again. Migrate before this date.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Real examples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Windows Server 2012 R2 EoS Oct 2023; CentOS 7 EoL Jun 2024.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Extended support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Paid stopgap (Azure ESU) - a bridge, not a destination.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angle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EoS/EoL systems = unpatchable vulnerabilities and compliance failures.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Track 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 EoL dates in your inventory so migration is planned, not panicked.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244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Decommissioning: The Forgotten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Confirm no dependencies - check DNS, callers, scheduled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Final backup - snapshot data you are required to retain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Revoke access - keys, roles, service accounts, firewall rules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Destroy resources - instance, disks, IPs, DNS 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Sanitise data - crypto-erase or provider-verified wipe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Update records - inventory, CMDB, diagrams, cost tags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245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Horizontal vs Vertical Scaling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Horizontal (scale out/in)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Vertical (scale up/down)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Add or remove instances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2 web servers become 6 behind an LB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Near-limitless, no downtime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Needs a stateless, LB-friendly app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The cloud-native default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Resize one instance bigger/smaller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t3.medium becomes m5.2xlarge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Usually requires a restart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Capped by the largest machine type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Fits databases and legacy apps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246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Autoscaling: Triggered, Scheduled, Manual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Triggered - load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React to a live metric: CPU over 70 percent for 5 minutes adds a replica.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Triggered - trending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Predictive scaling learns daily patterns and scales ahead of the curve.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Triggered - event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Queue depth, a schedule webhook or a deployment event fires the scale action.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Known cycles: scale out 8am weekdays, in at 8pm. Great for office-hours apps.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Manual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human sets desired capacity - fine for one-off launches, poor for surprises.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19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build a triggered CPU autoscaler, a scheduled rule and manual scaling.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247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Autoscaling Services by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VM groups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Auto Scaling Groups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VM Scale 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Instance Groups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Containers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ECS/EKS autoscaling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AKS cluster autoscaler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GKE autoscaler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Pods (K8s)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HPA on EKS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HPA / KEDA on AKS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HPA on GKE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Serverless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Lambda concurrency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Functions auto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Run instances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248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Scaling Policy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Target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Hold a metric at a target value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e.g. keep average CPU at 60 percent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Simplest to operate - start here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Step scaling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Bigger breach = bigger response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CPU 70-85: add 1; over 85: add 3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Tune cooldowns to avoid flapping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Predictive / scheduled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ML forecast or fixed calendar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Capacity is ready BEFORE the spike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Pair with a reactive policy as backstop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249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Capacity Planning &amp; Forecasting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Measure normal utilisation - you cannot spot growth without a reference.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Trend analysis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Extrapolate average and recent-peak usage to predict next quarter's need.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Headroom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 buffer above peak - autoscaling still needs minutes to react.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Right-sizing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Shrink over-provisioned resources; AWS Compute Optimizer / Azure Advisor suggest sizes.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Quota awareness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 accounts have soft limits - raise them before the launch, not during.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forecast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Capacity plans feed budgets: CloudWatch + Cost Explorer, Azure Cost Management.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250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CHANGE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Change Management for Cloud 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Request - RFC describes the change, risk and rollback 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 - CAB or peer review approves, rejects or defers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Schedule - assign to a maintenance window, notify stakeholders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Implement - execute via automation, log every action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 - post-change tests confirm intended outcome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Close - record result; failed changes get a post-mortem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251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Documentation &amp; Runbooks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Runbook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Step-by-step procedure for a routine task: patch, restore, failover, scale.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Playbook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Decision-driven response to an incident class, e.g. ransomware or region loss.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Living documents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Update after every execution - a stale runbook is worse than none.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 the runbook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Mature teams turn runbooks into scripts: AWS SSM Documents, Azure Automation.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Architecture records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Diagrams and ADRs explain WHY the system looks the way it does.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angle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Documentation questions favour 'update docs after change' answers.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252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Tagging &amp; Inventory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Tag everything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Key-value labels: owner, environment, cost-centre, project, expiry.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Enforce at creation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Tag policies (AWS Organizations, Azure Policy) block untagged resources.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allocation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Tags drive showback/chargeback reports per team or product.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Automated inventory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Config, Azure Resource Graph, GCP Asset Inventory list what exists.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Zombie hunting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Query for untagged or idle resources - prime decommission candidates.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21 ties 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label a container 'lifecycle=active' and retire it by that tag.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253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Hands-On: Labs 19 &amp; 21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19 (Killercoda)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simulate triggered, scheduled and manual scaling with Docker Compose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Watch a Bash controller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add replicas as stress-ng pushes CPU past the threshold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21 (Killercoda): walk a full lifecycle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provision, minor patch, major upgrade, decommission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unattended-upgrades automates security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minors; image tags mark major versions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Both labs mirror what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ASG/VMSS/MIG and SSM Patch Manager do for you in the cloud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254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Lifecycle Tooling by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Patching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SSM Patch Manager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Update Manager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OS patch management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Inventory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AWS Config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Resource Graph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Asset Inventory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Automation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SSM Documents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Automation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Workflows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Advice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Compute Optimizer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Advisor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Recommender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255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Every resource gets a birth certificate and a death certificate.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Provision by template, patch minors routinely, plan majors as changes, scale on evidence, and decommission before EoL - never after a breach.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256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DOMAIN 3 · TOPIC 3.2 · EXAM WEIGHT 17%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Backup &amp; Recovery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Backup types, the 3-2-1 rule, RTO/RPO, and DR strategies from pilot light to active-active. Lab 20.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3.2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257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Are We Protecting Against?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Ransomware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Encrypted production data is only survivable with clean, offline-style copies.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Human error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Accidental deletes and bad scripts are the most common restore trigger.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Software corruption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failed migration or buggy release can silently damage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Infrastructure failure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Disks, AZs and even whole regions do fail - plan for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Malicious insiders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Separate backup credentials so one compromised admin cannot purge both.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Compliance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Regulators mandate retention periods and provable recoverability.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258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BACKUP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Full, Incremental, Differential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Full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Copies everything, every time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Fastest restore - one set to load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Slowest to take, most storage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Incremental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Only changes since the LAST backup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Fastest and smallest to take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Restore replays the whole 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Differential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All changes since the last FULL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Restore = full + latest diff only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Grows daily until the next full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259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BACKUP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Backup Types Compared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Full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Incremental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Differential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Backup speed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Slowest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Fastest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Storage used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Highest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Lowest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Medium, grows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Restore needs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1 set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Full + every incr.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Full + newest diff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Restore speed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Fastest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Slowest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Chain risk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One bad link breaks it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260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BACKUP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Snapshots &amp;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Snapshot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Point-in-time copy of a volume - EBS, Azure Disk, GCP PD snapshots.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Incremental under the hood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 snapshots store only changed blocks after the first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Crash vs app consistent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App-consistent snapshots flush writes first (VSS, fsfreeze) - prefer them for DBs.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Machine image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Bootable template (AMI, Azure Image) - snapshot plus launch metadata.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Fast but local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snapshot in the same region dies with the region - copy it out.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Not archives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Snapshots are for fast rollback; long retention belongs in backup tiers.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261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3-2-1 Backup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3 copies of your data - production plus two backups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Store them on 2 different media or storage systems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1 copy off-site - another region, account or provider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Modern bonus: make 1 copy immutable or offline (anti-ransomware)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262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On-Site vs Off-Site Backup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On-site / same-region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Off-site / cross-region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Fast backup and fast restore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Snapshot in the same region or DC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Cheap - no egress charges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Dies with the site or region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Good for routine restores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Survives site and region disasters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Cross-region copy, second account, tape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Egress and storage costs are higher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Slower restore - plan RTO around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Mandatory for real DR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263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Backup Targets in the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Object storage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S3, Azure Blob, GCS - the default backup target; 11 nines durability.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Archive tiers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S3 Glacier, Azure Archive, GCS Archive - cents/GB, hours to retrieve.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Cross-region copy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Backup copy jobs, GRS blobs, dual-region buckets automate off-site.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Separate account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Backup vault in another account/subscription blocks blast-radius spread.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Immutability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S3 Object Lock, Azure immutable blobs - WORM copies ransomware cannot touch.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S3-compatible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Lab 20 uses MinIO as an S3-compatible off-site target for restic.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264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ENCRYPTION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Encrypting Your Backups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 rest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Encrypt the stored backup - KMS keys on S3/EBS, SSE by default in AWS Backup.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 transit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TLS between source and backup target - non-negotiable over the internet.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Client-side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restic encrypts BEFORE upload - the target never sees plaintext.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Key management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Lose the key, lose every backup - protect and back up keys separately.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Separate key domains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Backup keys distinct from production keys limits compromise impact.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Compliance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PDPA/GDPR expect encrypted backups exactly like encrypted production data.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265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Retention &amp; Lifecycle Policies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Fresh backups land in hot storage for fast restore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After 30 days, lifecycle rules move them to cool/infrequent access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After 90 days, transition to archive (Glacier / Azure Archive)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At retention end (1-7 years), delete automatically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Legal hold overrides deletion until the hold is released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266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Schedules &amp; GFS Retention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Schedule = RPO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Backup frequency caps your data loss: nightly backup means up to 24h lost.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Grandfather-Father-Son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 monthly fulls long-term, weekly fulls medium, daily incrementals short.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Example policy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7 dailies, 4 weeklies, 12 monthlies, 3 yearlies - tune to compliance needs.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Policy as code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restic forget --keep-daily 7 --keep-weekly 4 enforces GFS automatically.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plans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Backup plans and Azure Backup policies bundle schedule + retention + vault.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Prune safely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Expire by policy, never by hand - manual deletes break incremental chains.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267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Recovery Types: In-Place vs Parallel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In-place restore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Parallel restore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Overwrite the original system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Fastest path back to service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Destroys forensic evidence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Risky if the backup is also bad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Use for simple oops-deletes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Restore beside production, then switch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Validate before anyone depends on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Original stays for investigation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Needs extra capacity temporarily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Use after corruption or compromise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268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RECOVERY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Bulk vs Granular Recovery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Bulk recovery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Restore the whole volume, VM or database in one operation.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Granular recovery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Pull back one file, mailbox or table row without a full restore.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restic restore --include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Lab 20 shows granular restore of a single path from a snapshot.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File-level from snapshots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Mount a snapshot and copy just the files you need.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Item-level SaaS restore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M365/Google Workspace backups restore single emails or docs.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Choose by scope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lost file never justifies a full-volume rollback.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269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Test It or It Is Not a Backup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Recoverability testing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Actually restore to a sandbox and boot/query it - on a calendar.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Integrity testing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Verify checksums: restic check confirms repository blocks are sound.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classic failure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Backups ran green for years but restores were never tried - and fail.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 drills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Backup restore testing plans run scheduled automatic restores.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Measure the drill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Time it - the drill result IS your evidence-based RTO.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Document results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Auditors want dated proof restores succeed, not job logs.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270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DR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RTO vs RPO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RTO - Recovery Time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RPO - Recovery Point 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How long can we be DOWN?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Clock starts at the outage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Ends when service is restored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Driven by restore speed + failover design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Shrinks with warmer DR strategies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How much DATA can we lose?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Measured backwards from the outage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Equals time since the last good copy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Driven by backup/replication frequency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Shrinks with continuous replication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271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DR Strategies: Cost vs Speed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1967377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09579" y="1828800"/>
            <a:ext cx="1967377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37595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76956" y="1828800"/>
            <a:ext cx="1967377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4972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44333" y="1828800"/>
            <a:ext cx="1967377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72349" y="1828800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Standby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Backup &amp; restore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42202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0218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Hours-days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09579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37595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6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2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$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44333" y="2395728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72349" y="2395728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Nothing running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Pilot light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42202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70218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Tens of mins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09579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37595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Minutes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76956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4972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$$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444333" y="2962656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72349" y="2962656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Data live, apps off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Warm standby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Minutes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509579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637595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Seconds-min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76956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4972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$$$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44333" y="3529584"/>
            <a:ext cx="1967377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72349" y="3529584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Scaled-down copy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Active-active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Near zero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09579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37595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Near zero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6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2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$$$$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4333" y="4096512"/>
            <a:ext cx="1967377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72349" y="4096512"/>
            <a:ext cx="1711345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Full copy serving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272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Warm-to-Hot Spectrum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Pilot 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Core data replicated and live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App servers exist but stay off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Ignite: start and scale on disaster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Warm standby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Full stack running, minimum size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Always ready to take traffic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Scale up during failover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Multi-site active-active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All regions serve users all the time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Route 53 / Traffic Manager balance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Costliest - reserve for critical apps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273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DR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Failover and Failback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Detect - health checks declare the primary site down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Failover - DNS or global LB shifts traffic to the DR site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Operate - DR site carries production; keep replicating changes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Restore - repair the primary and sync data back to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Failback - controlled cutover home during a quiet window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274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Backup &amp; DR Services by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Managed backup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AWS Backup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Backup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Backup and DR Service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DR orchestration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Elastic DR (DRS)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Site Recovery (ASR)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Backup and DR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Snapshots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EBS snapshots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Disk snapshots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PD snapshots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Archive tier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S3 Glacier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Blob Archive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GCS Archive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275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REPLICATION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Replication Is Not Backup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Synchronous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Write commits at both sites before ack - zero RPO, needs low latency.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Asynchronous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Primary acks first, copies later - small RPO, works across regions.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trap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Replication faithfully copies your ransomware and your bad DELETE too.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Point-in-time wins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Only versioned backups let you rewind to before the mistake.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 both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Replication for availability (RTO), backups for recovery (RPO history).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angle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'We replicate so we do not back up' is always the wrong answer.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276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Hands-On: Lab 20 with restic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 Killercoda you run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MinIO as an S3-compatible off-site backup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restic init creates 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encrypted, deduplicating repository - client-side encryption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Take full then incremental-style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snapshots; observe how little the second one uploads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Enforce GFS retention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restic forget --keep-daily/--keep-weekly, then prune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Prove recoverability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restore to a fresh path and run restic check for integrity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277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Backup &amp; Recovery: Exam Tips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Type maths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Restore chain: incremental = full + ALL increments; differential = full + newest.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RTO vs RPO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RTO = downtime tolerance, RPO = data-loss tolerance. Two different clocks.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3-2-1 rule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3 copies, 2 media, 1 off-site - the go-to answer for backup design.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Cheapest DR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Backup-and-restore is cheapest/slowest; active-active fastest/costliest.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scenario mentioning untested backups points to recoverability testing.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Recovery scope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file = granular; whole system = bulk; compromised host = parallel.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278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DOMAIN 3 · TOPIC 3.3 · EXAM WEIGHT 17%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Observability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Metrics, logs and traces - Prometheus, Grafana, ELK, OpenTelemetry and alerting that people trust. Labs 16-18.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3.3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279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Monitoring vs Observability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Monitoring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Observability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Watch KNOWN failure modes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Dashboards and threshold alerts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Answers: is it broken?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Predefined questions only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Necessary but not sufficient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Explore UNKNOWN failure modes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Rich telemetry you can query ad hoc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Answers: WHY is it broken?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New questions without new code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Built on metrics + logs + traces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280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Three Pillars of Observability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Metrics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Numbers over time - cheap to store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CPU, latency, request rate, errors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Best for alerting and trends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Logs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Timestamped event records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Rich detail: who, what, error text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Best for forensics and audits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Traces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One request's journey across services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Spans show where time was spent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Best for microservice bottlenecks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281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METRICS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Metrics Fundamentals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Counter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Only goes up: total requests, total errors. Rate it to make it useful.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Gauge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Goes up and down: memory in use, queue depth, active sessions.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Histogram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Distribution buckets - the source of p95/p99 latency numbers.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Normal behaviour measured over time; anomalies are deviations from 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Golden signals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Latency, traffic, errors, saturation - Google SRE's core four.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Cardinality care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 many label values (user IDs!) explode storage and cost.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282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PROMETHEUS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Prometheus Works: The Scrape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Exporters expose metrics as text at /metrics (node-exporter, app SDKs)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Prometheus PULLS each target on a schedule - e.g. every 5s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Samples land in the local time-series database (TSDB)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PromQL queries slice and aggregate the series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Grafana renders dashboards; Alertmanager routes firing rules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283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PROMETHEUS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PromQL: Just Enough to Be Dangerous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Instant vector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node_memory_MemAvailable_bytes - the latest value per labelled series.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rate()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rate(node_cpu_seconds_total[1m]) turns a counter into per-second speed.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Aggregation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avg by (instance) (...) rolls series up across labels.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CPU percent idiom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100 - avg(rate(node_cpu_seconds_total{mode='idle'}[1m])) * 100.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Alert rules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expr + for: 30s - condition must HOLD before the alert fires.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16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write exactly this CPU expression and fire a real alert on Killercoda.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284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DASHBOARDS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Dashboards with Grafana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sources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Prometheus, Loki, Elasticsearch, CloudWatch, Azure Monitor - one pane.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Panels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Time series, gauges, stats, heatmaps - pick the shape that answers a question.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Variables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Template a dashboard once, switch $instance or $env from a dropdown.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Thresholds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Colour bands (green/amber/red) make health readable at a glance.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Import IDs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Community dashboards by ID - 1860 is the classic Node Exporter Full.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Audience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Exec view: SLOs and availability. On-call view: saturation and errors.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285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LABS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Hands-On: Lab 16 Prometheus + Grafana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 the Killercoda playground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run node-exporter, Prometheus and Grafana in Docker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Prometheus scrapes localhost:9100 every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5 seconds into its TSDB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You query CPU usage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with rate() in PromQL and graph it in Grafana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stress-ng pushes CPU past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25 percent and your alert rule transitions pending -&gt; firing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This is the exact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metrics -&gt; alerting -&gt; triage loop objective 3.1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286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Centralized Logging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Collect - apps and OS write logs (syslog, stdout, files)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Ship - agents forward them: Filebeat, Fluent Bit, rsyslog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Parse - Logstash/ingest pipelines structure raw lines into fields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Store &amp; index - Elasticsearch / OpenSearch make them searchable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Query &amp; visualise - Kibana/Dashboards search, graph, alert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287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ELK / OpenSearch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Elasticsearch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Distributed search and analytics engine - stores and indexes log documents.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Logstash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Heavy-duty parser/transformer; grok patterns structure messy text.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Kibana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Search UI, dashboards and alerting on top of Elasticsearch.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Beats / Fluent Bit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Lightweight shippers on each host - collect and forward only.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OpenSearch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AWS-led open-source fork - same model; managed as Amazon OpenSearch.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equivalents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CloudWatch Logs, Azure Log Analytics (KQL), GCP Cloud Logging.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288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Log Levels: Speak Severity Fluently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Level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Meaning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Typical action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DEBUG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Developer detail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Off in production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INFO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Normal operations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Keep for context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WARN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Odd but self-recovered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Review in daily triage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ERROR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Operation failed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Investigate soon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FATAL/CRIT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Component down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Page on-call now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289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Parsing Logs: Grok &amp; Regex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parse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'error 500 /checkout 231ms' as FIELDS lets you graph p95 by endpoint.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Named regex shortcuts: %{IP:client} %{WORD:method} %{NUMBER:status}.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Free helper tool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Regex Generator (alfredang.github.io/regexgenerator) builds patterns from samples.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 before deploy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bad pattern silently drops fields - test on real log lines first.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Structured logging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Emit JSON from the app and skip regex pain entirely.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17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ship rsyslog lines into Elasticsearch and query them via Kibana's API.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290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LOGGING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Log Retention &amp; ILM Tiers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Hot - fresh indices on fast storage, fully searchable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Warm - older, read-only, cheaper nodes after ~7 days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Cold / frozen - rarely searched, object-storage backed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Delete - ILM policy removes indices past retention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Compliance logs may skip delete: 1-7 years in archive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291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Logs vs Metrics: Choosing the Pillar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Reach for metrics when...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Reach for logs when...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You need trends and alerts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Is CPU climbing? Error RATE up?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Cheap at scale, long retention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Aggregates, not individual events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First stop during an incident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You need the story of ONE event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WHICH request failed and why?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Costly at scale - retention is shorter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Full detail: stack trace, user, payload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Second stop - after metrics point the way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292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TRACING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Distributed Tracing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end-to-end record of one request as it crosses services.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timed operation within a trace - has a name, duration, parent.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Context propagation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Trace ID travels in headers (traceparent) so spans join up.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Waterfall view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Jaeger's timeline shows exactly which span burned the time.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Sampling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Trace a percentage of requests - 100 percent is rarely affordable.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When it shines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2s checkout across 5 microservices - tracing finds the slow hop.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293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TRACING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Anatomy of a Trace: Checkout Example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Root span: POST /checkout starts the trace (id abc123)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Child span: inventory-service check - 40ms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Child span: payment-gateway call - 1,800ms  &lt;- the culprit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Child span: order-db write - 25ms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Jaeger UI shows payment dominating the waterfall - fix found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294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TRACING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OpenTelemetry &amp; Tracing Backends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OpenTelemetry (OTel)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Vendor-neutral CNCF standard for emitting metrics, logs and traces.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SDK + auto-instrument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Libraries create spans in your code, often with zero code changes.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OTLP + Collector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wire protocol; the Collector receives, batches and routes telemetry.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Open-source backends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Jaeger and Zipkin store and visualise traces - Lab 18 runs Jaeger.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backends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X-Ray, Azure Application Insights, GCP Cloud Trace.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OTel wins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Instrument once, switch backends freely - no vendor lock-in.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295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ALERTING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Alerting That 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Threshold alerts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Static line: CPU &gt; 80 percent for 5 minutes. Simple, predictable.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Anomaly detection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ML baseline flags deviation from normal - catches unknown-unknowns.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Composite alerts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Combine conditions (high CPU AND high latency) to cut noise.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'for' clause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Require the condition to hold - one 2-second spike should not page.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Symptom over cause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Alert on user pain (error rate, latency), not every internal wobble.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Actionable only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page must have a runbook link and a human action to take.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296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ALERTING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Alert Lifecycle: Triage and Response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Fire - rule breaches; Alertmanager groups and dedups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Notify - route by severity: page on-call vs post to Slack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Triage - assess impact and urgency; acknowledge ownership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Respond - follow the runbook, mitigate, then fix root cause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Review - post-incident: tune the alert, update the runbook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297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ALERTING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Alert Fatigue &amp; On-Call Escalation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Alert fatigue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 many noisy pages teach responders to ignore ALL pages - dangerous.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Prune ruthlessly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Review weekly: any alert nobody acted on gets fixed or deleted.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Deduplicate &amp; group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outage should be one notification, not 200.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Escalation chain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ack in 5 minutes -&gt; next engineer -&gt; team lead -&gt; manager.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On-call tooling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PagerDuty, Opsgenie, Grafana OnCall manage rotations and escalation.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Severity tiers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P1 pages at 3am; P3 waits for business hours. Define them up front.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298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SERVICE LEVELS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SLI, SLO, SLA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Who cares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SLI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measured indicator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p99 latency = 240ms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Engineers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SLO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Internal target for the SLI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99.9% under 300ms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Product + SRE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SLA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Contract with penalties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99.9% or service credits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Customers, legal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Error budget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Allowed SLO shortfall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43 min down / month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Release gating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299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SERVICES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Observability Services by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Metrics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CloudWatch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Monitor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Monitoring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CloudWatch Logs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Log Analytics (KQL)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Logging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Traces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X-Ray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Application Insights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Trace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Managed OSS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Prometheus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Grafana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Prometheus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300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Observability: Exam Tips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Match the pillar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Trend/alert = metric; event detail = log; cross-service latency = trace.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Prometheus pulls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Scrape model = PULL on a schedule; push gateways are the exception.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Logging pipeline order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Collect -&gt; ship -&gt; parse -&gt; store/index -&gt; query. Know the stages.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Alert flow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Objective 3.1 pairs alerting with triage THEN response - in that order.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SLI/SLO/SLA ladder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Measure (SLI), target (SLO), contract (SLA) - smallest to most binding.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Labs 16-18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Prometheus/Grafana, ELK and Jaeger on Killercoda cover this objective end to end.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301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Metrics tell you THAT it broke, logs tell you WHY, traces tell you WHERE.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Instrument with OpenTelemetry, alert on symptoms with runbooks attached, and measure success as SLIs against SLOs - not as a wall of green dashboards.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302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OPERATIONS · LAB 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Observability with Prometheus &amp; Grafana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Scrape a node's metrics with Prometheus, visualise them in Grafana and trigger a CPU alert.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Metrics pillar: Prometheus scrapes a source (node-exporter) on an interval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Grafana visualises Prometheus as a data source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Threshold alerting: a PromQL rule fires when a condition holds for a duration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operational loop: alerting → triage → response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node-exporter (metrics source)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Configure &amp; run Prometheus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Grafana + add data source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the alert (stress-ng)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Three pillars summary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Prometheus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98064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98064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Grafana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26764" y="5870448"/>
            <a:ext cx="144018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26764" y="5870448"/>
            <a:ext cx="14401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node-exporter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376672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376672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stress-ng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579108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9108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303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OPERATIONS · LAB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Centralized Logging with the ELK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ELK, ship logs into it, and query and retain them through the Elasticsearch API.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centralized logging pipeline: collect → ship → store → query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Elasticsearch (store/index), Logstash (ingest/transform), Kibana (query/visualise)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Retention enforced with ILM (Index Lifecycle Management) policies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ELK and OpenSearch share the same query DSL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Elasticsearch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Kibana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Logstash with a syslog input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Ship test logs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Retention policy (ILM)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Aggregation query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144018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14401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Elasticsearch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58668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58668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Logstash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4236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74236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Kibana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16068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16068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5790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5790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825996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825996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304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OPERATIONS · LAB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Distributed Tracing with Jaeger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Jaeger, instrument a Python 'checkout' path with OpenTelemetry and view a distributed trace of parent/child spans.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Tracing is the third pillar of observability (metrics/logs/traces)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Spans are the unit; a trace is a set of causally-linked spans across services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OpenTelemetry is the vendor-neutral instrumentation API (OTLP export)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trace reveals the critical path — the slowest span — of one request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 &amp; Python deps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Jaeger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Instrument a 'checkout' path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Query traces via the Jaeger API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How tracing helps incident triage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Jaeger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50592" y="5870448"/>
            <a:ext cx="239572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5870448"/>
            <a:ext cx="23957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OpenTelemetry Python SDK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56048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56048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97880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97880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python3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658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92658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305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OPERATIONS · LAB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Horizontal Auto-Scaling Simulation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Simulate triggered, scheduled and manual horizontal scaling using a Bash controller that watches CPU and adds/removes Docker replicas.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Three scaling trigger families: triggered/load-based, scheduled, manual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An auto-scaler is a control loop that watches a metric and adjusts replicas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Horizontal scaling (add replicas) vs vertical scaling (resize one instance)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Horizontal scaling is the cloud-native default (AWS ASG, K8s HPA)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 Compose &amp;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Define a scalable service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Triggered (load-based) scaling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Scheduled scaling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Manual scaling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Horizontal vs vertical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152704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1527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Compose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145536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45536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stress-ng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47972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47972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cron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16068" y="5870448"/>
            <a:ext cx="135331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116068" y="5870448"/>
            <a:ext cx="13533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nginx:alpine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306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OPERATIONS · LAB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Backup &amp; Recovery with restic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Perform encrypted full/incremental/differential backups to off-site S3 storage, then test recoverability and verify integrity.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Full vs incremental vs differential backup semantics and restore trade-offs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Encrypted, deduplicating backups to off-site S3-compatible storage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Recoverability testing (granular and bulk restore) is mandatory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Integrity verification and retention policies (keep-daily/weekly + prune)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restic &amp; MinIO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Configure restic for S3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Full backup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Incremental backup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Differential-style snapshot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Granular restore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Bulk restore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Integrity check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Retention policy</a:t>
            </a:r>
          </a:p>
        </p:txBody>
      </p:sp>
      <p:sp>
        <p:nvSpPr>
          <p:cNvPr id="51" name="Oval 50"/>
          <p:cNvSpPr/>
          <p:nvPr/>
        </p:nvSpPr>
        <p:spPr>
          <a:xfrm>
            <a:off x="6263640" y="546354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46354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29400" y="544525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Backup matrix</a:t>
            </a:r>
          </a:p>
        </p:txBody>
      </p:sp>
      <p:sp>
        <p:nvSpPr>
          <p:cNvPr id="54" name="Oval 53"/>
          <p:cNvSpPr/>
          <p:nvPr/>
        </p:nvSpPr>
        <p:spPr>
          <a:xfrm>
            <a:off x="6263640" y="575157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57515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29400" y="573328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restic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50592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50592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MinIO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05556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305556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307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DOMAIN 3 · OPERATIONS · LAB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Patching &amp; Lifecycle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Simulate a cloud resource lifecycle from provision through minor patch, major upgrade, testing and clean decommissioning.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full lifecycle: provision → configure → monitor → patch → scale → backup → decommission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Minor patches (no behaviour change) vs major upgrades (breaking) risk profiles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Persistent data must survive upgrades; ephemeral state may vanish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EoL/EoS items must be replaced, not patched; decommission = archive + revoke + delete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F6FEB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patching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Provision phase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Apply minor patches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Major upgrade (test first)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Persistent vs ephemeral data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End of support / end of life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Decommissioning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Lifecycle summary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F6FEB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89988" y="5870448"/>
            <a:ext cx="196138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89988" y="5870448"/>
            <a:ext cx="19613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unattended-upgrades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61104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61104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202936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02936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308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4  · 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Securing the cloud: vulnerability management, CIS hardening, IAM &amp; RBAC, secure access (bastion + MFA), secrets management, web application firewalls and runtime threat detection.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309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19% OF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989963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Vulnerability Scanning with Trivy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The four-step vulnerability-management workflow: scope → identify → assess → remediate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1989963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CIS Benchmark Audit with Lynis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Benchmarks (CIS) are objective, measurable targets; hardening closes the gap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46654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153537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IAM &amp; RBAC with Keycloak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IAM building blocks: identity provider, realms (tenants), users, roles, clients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46654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153537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Bastion Host with SSH Key + MFA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SSH public-key authentication replacing passwords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10228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431711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Secrets Management with HashiCorp Vault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Never hard-code secrets; reference them from a secrets manager (Vault KV v2)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110228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431711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Web Application Firewall with ModSecurity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WAFs inspect HTTP semantics (query strings, bodies, headers) — not just IP/port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73802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4984" y="5480685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09928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Detecting Suspicious Activity with Falco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Runtime security uses kernel signals (eBPF) to spot bad behaviour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310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 Labs —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Labs 22–24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22: Vulnerability Scanning with Trivy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23: CIS Benchmark Audit with Lynis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24: IAM &amp; RBAC with Keycloak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Labs 25–27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25: Bastion Host with SSH Key + MFA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26: Secrets Management with HashiCorp Vault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27: Web Application Firewall with ModSecurity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Labs 28–28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28: Detecting Suspicious Activity with Falco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311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DOMAIN 4 · TOPIC 4.1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Vulnerability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Scope, scan, assess and remediate weaknesses before attackers find them - CVEs, CVSS, CIS benchmarks and the scanning toolbox.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4.1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312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Core Vocabulary First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Vulnerability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weakness in software, config or process that could be abused - e.g. an unpatched OpenSSL library.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Threat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Anyone or anything that might exploit the weakness - ransomware gangs, insiders, automated bots.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Exploit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actual code or technique that takes advantage of a vulnerability.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Risk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Likelihood x impact. Same CVE can be critical on an internet VM, minor on an isolated 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Common Vulnerabilities and Exposures - the public dictionary of known flaws (CVE-2021-44228).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CVSS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Common Vulnerability Scoring System - 0.0 to 10.0 severity score attached to each CVE.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313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Vulnerability Management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SCOPE - decide which assets, accounts and networks are in the scan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IDENTIFY - run scanners to discover vulnerabilities and misconfigurations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 - score findings with CVSS, add business context and exposure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REMEDIATE - patch, reconfigure, rebuild or apply compensating 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 - rescan to confirm the fix, then report and repeat on a schedule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314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Scoping the Scan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Asset inventory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cannot scan what you do not know exists - pull inventory from cloud APIs, CMDB and tags.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discovery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Config, Azure Resource Graph and GCP Asset Inventory enumerate every resource automatically.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 windows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Schedule intrusive scans off-peak; network scans can trip IDS alarms and load balancers.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Credentialed scans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Authenticated scans see installed packages and configs - far fewer false positives.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Provider rules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Some clouds require notice for penetration-style scans; check the acceptable use policy.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Scope creep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Out-of-scope systems mean blind spots; in-scope-but-forgotten systems mean noise.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315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Surfaces Do We Scan?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Images &amp; filesystems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Container images: OS packages + app libraries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VM filesystems: kernels, daemons, agents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Trivy scans both from one CLI (Lab 22)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 = rebuild from a patched base image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IaC &amp; configuration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Terraform, CloudFormation, K8s manifests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Finds open 0.0.0.0/0 rules before deploy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trivy config / Checkov / tfsec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Shift-left: block bad IaC in CI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Network &amp; running hosts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Port scans and service fingerprinting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OpenVAS / Nessus probe live systems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Finds exposed admin ports, weak TLS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Needs scan windows and change control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316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Agent-Based vs Agentless Scanning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Agent-based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Agentless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Software installed on each host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Deep visibility: packages, configs, processes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Works offline and off-network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Continuous, near real-time results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Cost: deploy, update and patch the agent itself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Scans from outside via network or cloud APIs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Zero footprint on the workload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Snapshot-based scanning reads disk images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Faster rollout across large fleets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Less runtime context; point-in-time 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317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CVE and CVSS in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CVE ID format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CVE-&lt;year&gt;-&lt;number&gt;, e.g. CVE-2021-44228 (Log4Shell). One ID per distinct flaw.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NVD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US National Vulnerability Database enriches CVEs with CVSS scores and affected versions.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CVSS base score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Rates exploitability + impact: attack vector, complexity, privileges, CIA impact.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Temporal &amp; environmental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Adjust the base score for exploit maturity and YOUR environment's exposure.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CISA KEV list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Known Exploited Vulnerabilities catalogue - actively attacked CVEs; patch these first.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EPSS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Exploit Prediction Scoring System - probability a CVE will be exploited in the wild.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318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CVSS v3 Severity Bands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Rating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Score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Typical response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None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0.0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Informational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Low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0.1 - 3.9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Fix in normal maintenance cycle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Medium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4.0 - 6.9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Schedule within the patch policy SLA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High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7.0 - 8.9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Prioritise; patch within days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Critical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9.0 - 10.0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Emergency change; patch now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319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Prioritising Remediation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Severity - start from the CVSS 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Exploitability - is it on the KEV list? Is exploit code public?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Exposure - internet-facing beats internal; prod beats dev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Business impact - what data or revenue sits behind the asset?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Fix effort - quick patch vs breaking upgrade; pick the order and SLA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320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Vulnerability Scanning vs Penetration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Vulnerability scanning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Penetration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Automated and broad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Finds KNOWN flaws by signature/version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Run continuously or weekly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Cheap; produces long finding lists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Does not exploit - no proof of 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Manual, skilled and targeted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Actively EXPLOITS flaws to prove impact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Run yearly or after major changes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Chains weaknesses like a real attacker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Needs written authorisation and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321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Remediation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Patch / update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Apply the vendor fix - apt upgrade, yum update, or a new image tag.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Rebuild the image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Cloud-native fix: bake a new AMI or container image and redeploy, never patch in place.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Reconfigure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Many findings are config, not code - close ports, disable protocols, tighten policies.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Compensating control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Cannot patch yet? Shield it: WAF rule, network isolation, extra monitoring.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Accept the risk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Document, get sign-off, set a review date. Acceptance is a decision, not neglect.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Decommission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cheapest fix for a vulnerable system nobody uses is deletion.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322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Open-Source Scanning Toolbox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Trivy (Lab 22)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Scans images, filesystems and IaC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CVE database refreshed continuously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One binary - ideal for CI pipelines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trivy image nginx:1.14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Lynis (Lab 23)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Host hardening audit for Linux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Scores a hardening index 0-100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Maps findings to CIS-style advice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lynis audit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OpenVAS / GVM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Full network vulnerability scanner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Probes live services over the network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Open-source alternative to Nessus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Heavier: runs as a server + feeds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323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CIS Benchmarks and Hardening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CIS Benchmarks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Community-agreed secure configuration baselines for OSes, clouds, K8s and databases.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Hardening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Reducing attack surface: remove packages, close ports, enforce strong auth, patch.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Levels 1 and 2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Level 1 = safe for everyone; Level 2 = defence-in-depth, may break functionality.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CIS hardened images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Pre-hardened AMIs / VM images sold on AWS, Azure and GCP marketplaces.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benchmarks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CIS AWS / Azure / GCP Foundations Benchmarks audit the account itself, not just VMs.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Audit 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Lab 23 uses Lynis to score a live Ubuntu host and remediate a finding.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324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Provider Vulnerability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VM &amp; image scanning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Inspector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Defender for Cloud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Security Command Center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Container registry scan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ECR scanning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Defender for Containers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Artifact Analysis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Patch orchestration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SSM Patch Manager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Update Manager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VM Manager OS patch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Config compliance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AWS Config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Policy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Security Health Analytics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325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VULNERABILITY MGMT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Practise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22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scan a deliberately vulnerable image, a filesystem and Terraform IaC with Trivy on Killercoda.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23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audit the Killercoda VM against CIS guidance with Lynis and raise the hardening index.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Both labs walk the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exam's scope, identify, assess, remediate steps end to end.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Rehearse attack-vs-defence thinking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free at alfredang.github.io/cybersecuritysimulator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scenarios love asking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WHICH step of the workflow an action belongs to - learn the order cold.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326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Vulnerability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 the four steps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Scanning scope, identification, assessment, remediation - in that order, by name.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CVE vs CVSS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CVE identifies the flaw; CVSS scores its severity. Do not mix them up.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 vs pen test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Scan = automated, finds known flaws. Pen test = human, exploits them. Classic question.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Credentialed = deeper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Authenticated scans see inside the host and cut false positives.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CIS = benchmark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If the question says 'industry hardening baseline', the answer is CIS Benchmarks.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Cloud-native fix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Prefer 'rebuild and redeploy the image' over 'patch the running container'.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327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Vulnerability management is a loop, not an event: scope, identify, assess, remediate.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CVE names the flaw, CVSS scores it, KEV tells you it is being exploited - and the riskiest asset, not the highest score, gets patched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328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DOMAIN 4 · TOPIC 4.2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Identity &amp; Access Management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Who are you, what may you do, and can we prove it - users, roles, federation, MFA, PAM and secrets management.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4.2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329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Authentication vs Authorization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Authentication (AuthN)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Authorization (AuthZ)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Proves WHO you are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Passwords, keys, certificates, MFA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Happens first, at login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Failure = 401 Unauthorized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Handled by an identity provider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Decides WHAT you may do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Policies, roles, permissions, scopes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Evaluated on every request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Failure = 403 Forbidden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Handled by the resource's policy engine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330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IAM 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User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person's identity - unique login, credentials and (always) MFA.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Group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collection of users; attach permissions to the group, never user-by-user.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 assumable identity with permissions but no long-term credentials - for people OR services.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Policy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JSON document: effect (allow/deny), actions, resources, conditions.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account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non-human identity for apps and pipelines - GCP's term; AWS uses roles.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Root account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account owner. Lock it away, enable MFA, never use it day to day.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331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AAA - The Full Access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Identification - claim an identity (username, key 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Authentication - prove it (password + MFA, certificate, token)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Authorization - policy engine allows or denies each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Accounting - every call lands in an audit trail (CloudTrail, Azure Activity Log)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332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Least Privilege &amp; Separation of Duties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Least privilege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Grant only the permissions needed for the task, for only as long as needed.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Separation of duties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single person can both request and approve - split deploy from audit.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Just-in-time access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Elevate on demand with expiry - Azure PIM, AWS IAM Identity Center sessions.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Permission boundaries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ceiling on what a role can ever grant, even if its policy says more.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Access reviews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Recertify who has what quarterly; remove dormant accounts and stale keys.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Deny by default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Everything not explicitly allowed is denied; explicit deny always wins.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333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RBAC vs ABAC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Role-based (RBAC)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Attribute-based (ABAC)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Permissions bundled into roles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User -&gt; role -&gt; permissions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Simple to audit and explain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Role explosion at large scale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Azure roles, K8s RBAC, AWS managed policies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Rules evaluate attributes at request time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user.dept == resource.tag.dept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Scales without new roles per project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Harder to reason about and audit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AWS tags in conditions, Azure ABAC on blobs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334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Authorization Models on the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Access decided by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Cloud example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RBAC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role you hold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Contributor role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Group-based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Group membership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AD group -&gt; S3 policy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ABAC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Attributes / tags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Tag project=alpha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Discretionary (DAC)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The resource owner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File owner grants share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OAuth 2.0 scopes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Delegated consent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App may read calendar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335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Federation - Three Protocols to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SAML 2.0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XML assertions from IdP to SP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Enterprise SSO into web apps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Browser-redirect based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Think: corporate AD to AWS console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OAuth 2.0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AUTHORIZATION, not authentication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Delegates scoped access to an app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Access + refresh tokens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Think: app may post to your feed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OIDC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Identity layer on top of OAuth 2.0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Adds a JSON ID token (JWT)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Modern app and API login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Think: Sign in with Google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336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Federated Login Works (OIDC)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User hits the app; app redirects to the identity provider (IdP)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User authenticates ONCE at the IdP - password + MFA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IdP issues signed tokens: ID token (who) + access token (what)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 validates the token signature and expiry - no password ever stored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Same IdP session powers SSO into every other federated app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337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Inside a JWT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Header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Algorithm and token type - e.g. RS256, JWT. Base64-encoded, not encrypted.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Payload / claims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sub (who), iss (issuer), aud (audience), exp (expiry), plus roles and scopes.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Signature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Cryptographic proof the IdP issued it and nobody altered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Bearer risk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Whoever holds the token can use it - keep lifetimes short, always send over TLS.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Validation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Check signature, issuer, audience AND expiry - every single request.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See it live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Lab 24 mints real JWTs from Keycloak and decodes the claims.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338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MFA - Factor Types and Strength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Something you know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Password or PIN - the weakest factor on its own.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Something you have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TOTP app, push prompt, smart card, FIDO2 hardware key.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Something you 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Biometrics - fingerprint, face. Usually unlocks a device-bound key.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TOTP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Time-based one-time codes (Google Authenticator) - what Lab 25 adds to SSH.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Phishing-resistant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FIDO2 / passkeys bind to the site origin - codes can be phished, passkeys cannot.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Avoid SMS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SIM-swap attacks make SMS the weakest second factor - better than nothing, last choice.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339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SSO and Directory Services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Single sign-on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authentication, many apps - fewer passwords, one strong front door.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Directory-based auth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LDAP / Active Directory holds users centrally; cloud IdPs sync from it.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IdPs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Microsoft Entra ID, Okta, AWS IAM Identity Center, Google Cloud Identity, Keycloak.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Local users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Accounts living on one box - fine for a lab, an audit finding in production.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SSO trade-off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compromised IdP account opens everything - so the IdP gets MFA and monitoring.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Keycloak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Open-source IdP doing SAML, OIDC and RBAC - you build a realm in Lab 24.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340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Service Accounts &amp; Instance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problem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Apps need credentials too - and hardcoded keys in code or images always leak.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Instance roles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Attach a role to the VM: AWS instance profile, Azure managed identity, GCP SA.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Metadata 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workload fetches short-lived credentials from 169.254.169.254 at runtime.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 stored keys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Credentials rotate automatically and never appear in code, config or git.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Protect metadata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SSRF can steal these creds - AWS IMDSv2 requires a session token first.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Programmatic access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APIs, SDKs and CLIs authenticate with keys or tokens - scope and rotate them.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341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Privileged Access Management (PAM)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Bastion / jump 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Single hardened entry to private VMs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Only the bastion faces the internet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Key + TOTP MFA in Lab 25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SSM &amp; Azure Bastion go agent-based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Session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Record and audit admin sessions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Approval workflow before elevation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Time-boxed, just-in-time access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Azure PIM, CyberArk, Teleport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Credential vaulting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Admin passwords live in a vault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Checked out, used, auto-rotated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 shared root passwords - ever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Break-glass account kept offline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342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Secrets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Never in code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API keys and DB passwords do not belong in git, images or environment files.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Central vault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HashiCorp Vault, AWS Secrets Manager, Azure Key Vault, GCP Secret Manager.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Change secrets on a schedule and on staff exit - automated, not heroic.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Dynamic credentials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Vault mints a unique short-lived DB login per request - leaked = already expired.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Access via identity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Workloads authenticate to the vault with their instance role - no bootstrap key.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Audit trail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secret read is logged - who, what, when. You build this in Lab 26.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343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IAM Name Map Across Clouds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Identity service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IAM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Entra 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IAM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Workload identity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Instance profile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identity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Service account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Secrets store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Secrets Manager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Key Vault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Secret Manager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SSO / federation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IAM Identity Center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Entra ID SSO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Workforce Identity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Audit trail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CloudTrail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Activity Log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Audit Logs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344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IAM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Practise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24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build a Keycloak realm with users, roles and an OAuth 2.0 client, then decode the JWT it issues.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25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harden SSH with keys, add Google Authenticator TOTP, and hop through a bastion on Killercoda.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26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store, version and rotate secrets in HashiCorp Vault, then mint dynamic DB credentials.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Try credential-theft and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phishing scenarios at alfredang.github.io/cybersecuritysimulator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345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IAM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401 vs 403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401 = authentication failed; 403 = authenticated but not authorized.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SAML vs OIDC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Both federate identity. SAML = XML, legacy enterprise; OIDC = JWT, modern apps.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OAuth is AuthZ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OAuth 2.0 delegates ACCESS. If the question says 'login', think OIDC on top.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Bastion host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'Secure SSH/RDP into private instances' - the answer is a bastion / jump host.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Roles beat keys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For app-to-cloud access, instance roles / managed identities beat static keys.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MFA everywhere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scenario hardening console or SSH access wants MFA in the answer.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346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Authentication proves who you are; authorization decides what you may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Federate identity through one IdP, enforce least privilege with roles, protect humans with MFA and machines with short-lived credentials from a vault.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347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DOMAIN 4 · TOPIC 4.3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Container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Securing the whole container lifecycle - image, registry, runtime and Kubernetes - plus the software supply chain.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4.3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348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Container Attack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Vulnerable packages baked into layers - inherited from the base image.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Registry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Poisoned or tampered images pulled by everyone downstream.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Runtime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compromised container trying to escape to the host or its neighbours.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Orchestrator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Over-permissive Kubernetes RBAC, exposed dashboards, unencrypted etcd.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Shared kernel - one kernel exploit affects every container on the node.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Supply chain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Malicious dependencies and build tampering upstream of your Dockerfile.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349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Image Security - Three Habits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Minimal base images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alpine, distroless, slim variants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Fewer packages = fewer CVEs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 shell for attackers to live in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Multi-stage builds drop build tools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Sign your 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cosign / Notary signs each digest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Deploy only verified signatures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Pin digests, not mutable tags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Blocks registry tampering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Scan in 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Trivy gate on every build (Lab 22)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Fail the pipeline on HIGH/CRITICAL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Rebuild weekly - new CVEs appear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 = new image, never patch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350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 Secure Image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Start from a minimal, trusted base image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Build in CI - no manual docker build on laptops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with Trivy; block the build on critical CVEs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the image digest and generate an SBOM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Push to a private registry; deploy only signed digests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351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Registry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Private registries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ECR, Azure ACR, GCP Artifact Registry, Harbor - never anonymous push.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 on push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Registries auto-scan new images and alert on known CVEs.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Immutable tags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Stop anyone re-pushing v1.0 with different content - enforce tag immutability.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Access control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IAM scopes who may pull and who may push; CI pushes, clusters pull.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Pull-through cache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Mirror Docker Hub internally to control and scan what enters.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Admission gates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GKE Binary Authorization / K8s admission control refuse unsigned images.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352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Privileged vs Unprivileged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Privileged (avoid)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Unprivileged (default)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--privileged grants ALL capabilities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Can access host devices and kernel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Container escape becomes trivial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Root in container ~= root on host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Only for special agents, tightly reviewed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Runs as non-root UID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Capabilities dropped to a minimum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 host device or kernel access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Compromise stays inside the sandbox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Enforced by Pod Security 'restricted'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353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Runtime Hardening Checklist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 as non-root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USER app in the Dockerfile; runAsNonRoot: true in the pod spec.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Read-only filesystem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readOnlyRootFilesystem stops malware writing binaries into the container.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Drop capabilities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Drop ALL Linux capabilities, add back only what the app truly needs.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seccomp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Filters which syscalls the container may make - RuntimeDefault profile as baseline.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AppArmor / SELinux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Mandatory access control confines file and network access per profile.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Resource limits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CPU/memory limits stop one container starving the node - and blunt cryptominers.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354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Runtime Threat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Falco (Lab 28)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CNCF runtime security engine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Watches syscalls via eBPF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Rules fire on abnormal behaviour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Alerts stream to SIEM / Slack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eBPF - the how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Safe programs inside the kernel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Sees every syscall with low overhead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 kernel module to maintain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Also powers Cilium and Tetragon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Managed equivalents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GuardDuty runtime monitoring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MS Defender for Containers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GCP SCC container threat detection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Same idea, provider-operated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355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Falco Catches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Shell in a container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terminal spawning inside a prod container - classic post-exploit move.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Sensitive file reads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Something reading /etc/shadow or cloud credential files.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Unexpected outbound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New network connections to strange hosts - C2 or data exfiltration.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Cryptojacking pattern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CPU-hungry processes and miner-pool connections (you trigger this in Lab 28).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Package installs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apt/yum running in a live container - drift from the immutable image.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Privilege escalation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setuid calls and container-escape attempts.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356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Kubernetes Security Essentials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K8s RBAC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Roles and RoleBindings scope who may do what, per namespace - least privilege again.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Network policies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Default-deny pod traffic, then allow only declared flows - micro-segmentation.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Pod Security Standards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Privileged / baseline / restricted profiles enforced per namespace.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Secrets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K8s Secrets are only base64 - enable etcd encryption at rest, restrict RBAC access.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accounts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Per-workload identities; disable auto-mount of tokens pods do not need.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API server exposure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Private endpoint or IP allowlist - never an open API server on the internet.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357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Pod Security 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Profile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What it allows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Use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Privileged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Everything, incl. --privileged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Trusted infra agents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Baseline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Blocks known escalations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Ordinary app workloads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Restricted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Non-root, dropped caps, seccomp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Hardened prod namespaces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358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K8s Secrets vs External Secret Stores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Native K8s Secrets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External store (Vault / cloud)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Built in, zero extra moving parts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base64-encoded, NOT encrypted by default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Readable by anyone with etcd or RBAC access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No rotation or lease built in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Fine for low-value config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Vault, Secrets Manager, Key Vault via CSI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Real encryption, audit and rotation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Dynamic short-lived credentials (Lab 26)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Central policy across many clusters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The production-grade answer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359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Supply-Chain Security &amp; SBOM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SBOM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Software Bill of Materials - a full ingredient list of every package in the image.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it matters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When the next Log4Shell drops, the SBOM tells you WHERE you are exposed in minutes.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Formats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SPDX and CycloneDX; generate with trivy image --format cyclonedx.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Provenance / SLSA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Attestations proving WHO built the image, from WHAT source, on WHICH pipeline.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Dependency scanning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Lockfiles and libraries scanned in CI - not just OS packages.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Trusted sources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Official and verified base images only; mirror and scan anything external.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360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Security Across Clouds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Registry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Artifact Registry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Registry scanning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ECR scan (Inspector)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Defender for Containers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Artifact Analysis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Runtime detection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GuardDuty runtime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Defender sensor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SCC threat detection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Deploy gate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ECR + admission ctrl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ACR content trust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Binary Authorization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361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CONTAINER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Practise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22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Trivy scans a vulnerable container image and IaC - your CI gate in miniature.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28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 Falco on Killercoda and trigger shell-in-container, sensitive-file and cryptomining alerts.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26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swap hardcoded secrets for Vault-issued dynamic credentials.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Replay a container-breakout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scenario at alfredang.github.io/cybersecuritysimulator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362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Container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Privileged = danger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question featuring --privileged wants you to remove or refuse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Non-root + read-only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two runtime settings the exam loves: runAsNonRoot, readOnlyRootFilesystem.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Scan early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'Where to catch image CVEs?' - in the CI pipeline, before deploy, with Trivy.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K8s Secrets caveat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base64 is encoding, not encryption - enable etcd encryption or use Vault.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Falco = runtime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Detecting live suspicious behaviour in containers = Falco / eBPF, not a scanner.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SBOM = inventory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'Which images contain library X?' - the SBOM answers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363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Containers are immutable: fix the image and redeploy - never patch a running container.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Minimal signed images scanned in CI, non-root read-only runtimes, default-deny network policies, and Falco watching syscalls for everything that slips through.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364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DOMAIN 4 · TOPIC 4.4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Compliance Standards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PCI DSS, SOC 2, ISO 27001, GDPR/PDPA and HIPAA - plus data sovereignty, classification, encryption and key management.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4.4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365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Compliance Vocabulary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Regulation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Law with penalties - GDPR, PDPA, HIPAA. Non-compliance means fines or worse.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Standard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Agreed requirements you certify against - ISO 27001, PCI DSS.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Framework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Guidance to organise controls - NIST CSF, CIS Controls, CSA CCM.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Independent examination of your controls and evidence.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Attestation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auditor's formal report that controls work - e.g. a SOC 2 Type II report.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Certification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body certifies you meet a standard - ISO 27001 certificate, 3-year cycle.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366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Big Five 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Standard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Who it applies to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Core focus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PCI DSS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Anyone handling card data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Protect cardholder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SOC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Service providers / SaaS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Trust Services Criteria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ISO 27001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Any organisation (global)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ISMS - security mgmt system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GDPR / PDPA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EU / Singapore personal data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Privacy rights &amp; consent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HIPAA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US healthcare &amp; partners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Protected health info (PHI)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367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Three You Must Know Cold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SOC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AICPA Trust Services Criteria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Security, availability, confidentiality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Type I = design at a point in time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Type II = operating over 6-12 months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ISO 27001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International ISMS standard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Risk-based control selection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Annex A control catalogue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Certified by accredited bodies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PCI DSS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12 requirements for card data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Segment the cardholder environment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Encrypt, restrict, test, monitor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Quarterly scans by an ASV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368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Privacy Law - GDPR and PDPA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Personal data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Anything identifying a person - names, emails, IPs, location, biometrics.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Lawful basis / consent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need a legal reason to process; consent must be informed and revocable.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Purpose limitation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Collect for a stated purpose; do not quietly reuse the data for another.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 subject rights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Access, correction, erasure ('right to be forgotten'), portability.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Breach notification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GDPR: report to the regulator within 72 hours. PDPA: notify PDPC promptly.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PDPA (Singapore)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Our local law - consent, purpose and reasonableness obligations, DNC registry.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369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 Sovereignty vs Data Residency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Sovereignty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Residency / locality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Data is subject to the LAWS of where it lives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Foreign governments may compel access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Drives 'sovereign cloud' offerings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Legal question - who can demand the data?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WHERE the data is physically stored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Met by choosing regions, e.g. ap-southeast-1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Policy can pin data to a geography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Engineering question - which region?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370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 Classification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Public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harm if disclosed - marketing pages, published docs.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Internal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Business-only, low harm - wikis, org charts, most email.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Confidential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Real damage if leaked - contracts, source code, financials.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Restricted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Regulated or existential - card data, PHI, credentials, keys.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classify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Controls follow the label: encryption, access, retention and DLP scale with class.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tooling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Amazon Macie, Microsoft Purview and GCP DLP discover and label sensitive data.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371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Data Retention &amp; Legal Holds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Regulatory retention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Laws set minimum keep times - financial records, health data, audit logs.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Contractual retention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Customer agreements may dictate how long (and where) you keep their data.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Litigation hold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lawsuit freezes deletion - suspend lifecycle rules for the affected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Lifecycle automation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S3 lifecycle / Azure blob tiers move data hot to cold to delete on schedule.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Immutability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S3 Object Lock / WORM storage prevents tampering during the retention window.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Deletion is policy too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Keeping data past its purpose violates GDPR/PDPA minimisation.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372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Audit &amp; Attestation 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Define scope - which systems, data and controls are in the audit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Collect evidence - configs, logs, tickets, policies, access reviews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Auditor tests controls - sampling, interviews, technical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Report / attestation issued - SOC 2 report or ISO certificate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Continuous monitoring keeps you ready for the next cycle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373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Shared Responsibility for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Provider's 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Your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Certifies the INFRASTRUCTURE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Physical security, hypervisor, regions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Publishes SOC 2 / ISO / PCI attestations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Evidence via AWS Artifact &amp; trust portals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Certifies WHAT YOU BUILT on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Your configs, IAM, data handling, apps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Provider PCI compliance does not make YOUR app PCI compliant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You still face your own 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374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Encryption - Rest, Transit, In Use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 rest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AES-256 on disks, buckets and databases - default-on in all major clouds.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 transit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TLS 1.2+ everywhere, including service-to-service inside the VPC.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 use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Confidential computing - encrypted memory: AWS Nitro Enclaves, Azure Confidential VMs.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Envelope encryption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key encrypts the data; a KMS master key encrypts the data key.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Client-side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Encrypt before upload when you must not trust the provider with plaintext.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Certificates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Managed PKI: AWS ACM, Azure Key Vault certs, GCP Certificate Manager.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375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Management - KMS, HSM, BYOK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KMS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Managed key service: create, rotate, audit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KMS, Azure Key Vault, GCP Cloud KMS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IAM controls who may use each key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 key use lands in the audit log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HSM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Hardware security module, FIPS 140-2/3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Keys never leave tamper-proof hardware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CloudHSM / Dedicated HSM for strict regs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Higher cost, highest assurance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BYOK / CMK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Customer-managed keys in provider KMS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You control rotation and revocation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Revoke the key = data goes dark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Common auditor ask for regulated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376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Compliance Tooling Across Clouds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Attestation portal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AWS Artifact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Service Trust Portal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Compliance Reports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Audit automation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Audit Manager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Compliance Manager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Assured Workloads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Data discovery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Macie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Purview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Sensitive Data Protection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Key management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KMS / CloudHSM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Key Vault / Mgd HSM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KMS / Cloud HSM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377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Security Alliance &amp;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CSA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 Security Alliance - the exam names it under industry standards.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CCM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 Controls Matrix - control framework mapping cloud risks to standards.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STAR registry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Public registry of provider self-assessments and certifications.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CAIQ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Standard questionnaire for assessing a cloud provider's security posture.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Due diligence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Before signing: read the provider's SOC 2, ISO scope and data-location terms.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 contracts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Compliance needs flow into the SLA and the data processing agreement.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378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Making It Concrete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Singapore learners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PDPA is your home regulation - map its consent and notification duties to GDPR's.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Pull a real attestation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Artifact and the Azure Service Trust Portal hand you SOC/ISO reports free.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Labs 22-23 generate exactly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scan and hardening evidence an auditor asks for.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Walk a data-breach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notification scenario at alfredang.github.io/cybersecuritysimulator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379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Compliance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Match the standard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Card data = PCI DSS; health = HIPAA; privacy = GDPR/PDPA; SaaS trust = SOC 2.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SOC 2 types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Type I = design snapshot; Type II = operating effectiveness over months.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Sovereignty keyword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'Subject to the laws of the country where stored' = data sovereignty.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Litigation hold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Freezes deletion and overrides lifecycle policies - full stop.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Shared compliance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Provider certs cover the infrastructure; your workload needs its own audit.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Three encryption states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At rest, in transit, in use - name the control for each.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380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Compliance is inherited infrastructure plus proven configuration - never inherited alone.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Classify the data, pin it to the right region, encrypt it in all three states with keys you control, and keep the evidence auditors will ask for.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381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DOMAIN 4 · TOPIC 4.5 · EXAM WEIGHT 19%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Security Controls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Layered defences in the cloud - control categories, network and endpoint controls, zero trust, SIEM/SOAR and incident response.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4.5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382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Control Categories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Preventive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Stops the incident happening - firewall rule, IAM deny, encryption, MFA.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Detective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Spots it happening - IDS, GuardDuty finding, log alert, Falco rule.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Corrective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Fixes it after - restore from backup, auto-remediation, patch.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Deterrent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Discourages the attempt - warning banners, visible monitoring.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Compensating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Stand-in when the ideal control is impossible - WAF shielding an unpatchable app.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Physical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Locks, guards, cameras - the provider's job in the shared model.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383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Categories Mapped to Cloud Examples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Cloud example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Timing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Preventive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Security group, IAM policy, WAF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Before the event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Detective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GuardDuty, CloudTrail alerts, Falco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During the event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Corrective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Auto-remediation, backup restore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After the event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Deterrent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Login banner, audit notices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Before the event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Compensating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Extra monitoring on legacy app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Alternative control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384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Defense in Depth - The Layers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Identity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IAM, MFA, least privilege - the real perimeter in the cloud.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Perimeter &amp; edge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DDoS protection, WAF and CDN filtering before traffic reaches you.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Network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VPC segmentation, security groups, NACLs, private subnets.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Host / compute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Hardened images, patching, EDR, host firewalls.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Application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Secure coding, input validation, dependency scanning, API auth.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Data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Encryption, classification, DLP, backups - the last line.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385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 Network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Security groups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Virtual firewall on the instance NIC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Stateful - replies auto-allowed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Allow rules only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Azure: NSG; GCP: firewall rules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Network ACLs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Filter at the SUBNET boundary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Stateless - both directions ruled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Allow AND deny rules, numbered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Coarse second layer under SGs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WAF + DDoS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WAF: layer-7 - SQLi, XSS (Lab 27)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WAF, Azure WAF, Cloud Armor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DDoS: AWS Shield, Azure DDoS Protection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Managed rules = OWASP CRS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386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Security Group vs Network ACL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Security group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Network ACL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Instance / NIC level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Stateful - return traffic allowed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Allow rules only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All rules evaluated together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First choice for workload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Subnet level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Stateless - rule both directions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Allow and explicit deny rules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Rules processed in number order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Blunt instrument - block bad CIDRs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387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WAF in Action (Lab 27)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What a WAF sees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HTTP requests at layer 7 - parameters, headers, cookies, bodies.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OWASP CRS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Core Rule Set blocks SQLi, XSS and path traversal - Lab 27 runs it on Nginx.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WAFs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WAF, Azure Front Door WAF and GCP Cloud Armor base rules on the same CRS ideas.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Paranoia levels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Stricter levels catch more attacks - and more false positives; tune per app.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Virtual patching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WAF rule can shield a known CVE while the real patch is scheduled.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Not a silver bullet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WAF is a compensating layer - it never replaces fixing the code.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388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Endpoint &amp; Host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EDR / endpoint protection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Detects and responds on the host - CrowdStrike, Defender for Endpoint.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Anti-malware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Signature + behaviour scanning; still expected on servers by many standards.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Host firewall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ufw / Windows Firewall as the last network filter on the box.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Patching &amp; hardening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Lynis/CIS work from 4.1 IS an endpoint control.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DLP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Data loss prevention blocks sensitive data leaving - email, uploads, USB.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IPS vs IDS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IDS detects and alerts; IPS sits inline and BLOCKS. Detection vs prevention.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389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Zero Trust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Never trust, always verify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implicit trust from being 'inside the network'.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Verify explicitly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Authenticate and authorise every request - identity, device, location, risk.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Least privilege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Small, just-in-time grants; assume any credential can leak.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Assume breach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Design as if the attacker is already inside - contain blast radius.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Micro-segmentation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Workload-to-workload rules - security groups and K8s network policies.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Products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BeyondCorp (Google), Entra Conditional Access, ZTNA replacing legacy VPNs.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390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IDS vs IPS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IDS - detect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IPS - prevent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Passive: mirrors / taps the traffic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Alerts humans or the SIEM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Cannot block - zero traffic impact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False positive = noisy alert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Suricata / Zeek in detect 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Inline: traffic flows THROUGH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Drops malicious packets in real time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Adds latency; a failure can block traffic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False positive = blocked customer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AWS Network Firewall, Suricata inline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391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SIEM, SOAR and XDR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SIEM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Central log collection + correlation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Rules and analytics raise alerts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Compliance reporting home base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Splunk, Microsoft Sentinel, ELK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SOAR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Automates the RESPONSE playbook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Enrich, contain, notify - no human lag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e.g. isolate VM on a critical alert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Sentinel playbooks, Splunk SOAR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XDR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Detection across endpoint+cloud+mail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Correlates one attack story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Vendor-integrated telemetry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Defender XDR, CrowdStrike Falcon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392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Cloud-Native Threat Detection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GuardDuty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ML threat detection over CloudTrail, VPC Flow Logs and DNS logs.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Microsoft Defender for Cloud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Posture management + workload protection across Azure and beyond.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GCP Security Command Center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Findings, misconfigs and threats across your GCP org.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Microsoft Sentinel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Cloud-native SIEM/SOAR sitting on top of the telemetry.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 deviation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These tools alert on deviation from normal - new ports, odd API calls, weird geos.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Event monitoring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CloudTrail / Activity Log are the raw truth - detection reads them.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393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Incident Response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Prepare - IR plan, runbooks, contacts, practice drills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Detect &amp; analyse - alerts triaged, scope confirmed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Contain - isolate instances, revoke keys, block 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Eradicate - remove the cause; patch, rebuild from clean images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Recover - restore service, watch for re-infection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Lessons learned - post-incident review feeds back into controls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394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Attacks to Recognise (Objective 4.6)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Phishing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Social engineering for credentials - the #1 initial access vector. MFA blunts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Ransomware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Malware encrypting your data for payment - immutable backups are the counter.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DDoS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Traffic floods; absorbed by Shield / Cloud Armor / CDN edge capacity.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Cryptojacking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Stolen compute mining crypto - spot via cost spikes and CPU anomalies (Lab 28).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Zombie instances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Forgotten running resources - unpatched, unmonitored, quietly billable.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Metadata abuse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SSRF steals instance credentials at 169.254.169.254 - IMDSv2 defends.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395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CASB vs CSPM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CASB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CSPM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Cloud Access Security Broker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Polices USERS using SaaS apps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Shadow IT discovery, DLP, session control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Sits between users and cloud services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Defender for Cloud Apps, Netskope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Cloud Security Posture Management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Polices YOUR cloud configuration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Finds public buckets, open SGs, no-MFA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Continuously checks IaaS/PaaS accounts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Defender for Cloud, Prisma, Wiz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396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SECURITY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Practise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27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deploy Nginx + ModSecurity + OWASP CRS on Killercoda and watch SQLi and XSS get blocked.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28: trigger Falco detections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your detective control feeding the SIEM story.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Labs 25-26 built the preventive side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bastion + MFA and vaulted secrets.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Drill phishing, ransomware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and DDoS attack-vs-defence at alfredang.github.io/cybersecuritysimulator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397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Security Controls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Classify the control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Firewall = preventive; IDS = detective; backup restore = corrective.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SG vs NACL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Stateful instance-level vs stateless subnet-level - memorise the pairs.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WAF = layer 7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SQLi or XSS in the question? The answer contains WAF.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IDS vs IPS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Detect-and-alert vs inline-and-block. 'Without impacting traffic' = IDS.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SIEM vs SOAR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SIEM correlates and alerts; SOAR automates the response playbook.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Zero trust phrase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'Never trust, always verify' - identity checked on every request.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398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21D2E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No single control saves you - layered preventive, detective and corrective controls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Identity is the new perimeter: verify every request, segment every network, log everything to the SIEM, and rehearse the incident response before you need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399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Vulnerability Scanning with Trivy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Scan a container image, filesystem and IaC config with Trivy following the scope → identify → assess → remediate workflow.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four-step vulnerability-management workflow: scope → identify → assess → remediate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CVE (identifier) + CVSS (severity) as the universal vulnerability vocabulary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Three scan surfaces: container image, filesystem (secrets), IaC config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CI 'gate' — a non-zero exit code fails the build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Trivy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Scoping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Identify (image scan)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Assess (CVSS)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Remediate (patched base image)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Filesystem scan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IaC scan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Daily automation / CI gate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Trivy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63724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63724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05556" y="5870448"/>
            <a:ext cx="170078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05556" y="5870448"/>
            <a:ext cx="170078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sample Terraform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400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CIS Benchmark Audit with Lynis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Audit the VM against the CIS Ubuntu Benchmark with Lynis, score it, remediate findings and re-audit to confirm improvement.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Benchmarks (CIS) are objective, measurable targets; hardening closes the gap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Lynis hardening index is a quantifiable score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Findings map to specific CIS controls (file permissions, kernel modules)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Different benchmarks per layer: OS, Docker Bench, kube-bench, Prowler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Lynis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Baseline audit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Read warnings/suggestions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Remediate file permissions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Remediate kernel hardening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Re-audit and compare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Vendor-specific benchmarks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Lynis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363724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363724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chmod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18688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218688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sysctl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60520" y="5870448"/>
            <a:ext cx="213512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60520" y="5870448"/>
            <a:ext cx="21351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Bench Security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401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IAM &amp; RBAC with Keycloak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Stand up Keycloak and build a full IAM stack — realm, roles, users, an OAuth2 client — then authenticate and inspect RBAC roles in the JWT.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IAM building blocks: identity provider, realms (tenants), users, roles, clients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OAuth 2.0 + OIDC token flow (bearer JWT access token)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RBAC — roles propagate via JWT realm_access.roles claims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Authentication models: local, federation/SAML, OIDC, LDAP, MFA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Keycloak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Get an admin token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realm (tenant)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roles (RBAC)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user &amp; assign a role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an OAuth2 client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Authenticate (token-based)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Authentication models map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Keycloak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624328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624328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6616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6616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4256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334256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402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Bastion Host with SSH Key + MFA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Configure key-based SSH with TOTP MFA and route access through a locked-down bastion jump host — the canonical secure cloud-VM access pattern.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SSH public-key authentication replacing passwords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TOTP multi-factor auth chained via AuthenticationMethods / PAM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Bastion / jump-host pattern (internet → bastion → private subnet)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Restricting bastion access to corporate CIDRs; audit trails for compliance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OpenSSH &amp; Google Authenticator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Generate an SSH key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Disable password auth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Set up TOTP MFA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bastion architecture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Restrict who can reach the bastion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Audit trail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OpenSSH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537460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537460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ssh-keygen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26764" y="5870448"/>
            <a:ext cx="256946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26764" y="5870448"/>
            <a:ext cx="256946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Google Authenticator (PAM)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05956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05956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UFW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187184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87184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journalctl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403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Secrets Management with HashiCorp Vault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Vault to store static secrets, mint auto-expiring dynamic DB credentials and audit every access.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Never hard-code secrets; reference them from a secrets manager (Vault KV v2)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Secret versioning for audit and rollback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Dynamic, short-lived DB credentials with lease/TTL shrink the blast radius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Audit logging of every secret access; cloud equivalents (Secrets Manager, Key Vault)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Vault in dev mode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Write/read a static secret (KV v2)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Versioned secrets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Dynamic database credentials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Audit log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Cloud equivalents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161391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16139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HashiCorp Vault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32404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32404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74236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74236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PostgreSQL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6354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6354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31636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31636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404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Web Application Firewall with ModSecurity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Deploy Nginx + ModSecurity + the OWASP Core Rule Set and watch it block SQLi, XSS and path-traversal, then tune false positives.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WAFs inspect HTTP semantics (query strings, bodies, headers) — not just IP/port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OWASP CRS catches the OWASP Top 10 out of the box (SQLi, XSS, LFI)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Anomaly scoring with a block threshold and paranoia levels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False-positive tuning done test → staging → prod; ACL vs WAF vs Security Group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a prebuilt Nginx+ModSecurity image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Benign request (allowed)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a SQL-injection rule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an XSS rule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a path-traversal rule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Inspect the WAF audit log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Tune (false-positive triage)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ACL vs WAF vs Security Group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29169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29169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(owasp/modsecurity-crs)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35424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35424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Nginx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90388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390388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OWASP CRS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92824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92824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405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DOMAIN 4 · SECURITY · LAB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Detecting Suspicious Activity with Falco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Run Falco and trigger runtime detections that map to CV0-004 attack categories, then route alerts to Prometheus / SIEM.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Runtime security uses kernel signals (eBPF) to spot bad behaviour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Common detections: shell-in-container, sensitive-file reads, odd outbound connections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Detections map to CV0-004 attack categories (privesc, cryptojacking, metadata abuse)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Baseline-deviation alerting; events flow into Prometheus / SIEM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E21D2E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Falco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Tail Falco events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shell-in-container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a sensitive-file read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Trigger an unexpected outbound connection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Map to exam attack types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Baseline deviation alerting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E21D2E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135331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13533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Falco (eBPF)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7180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7180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913632" y="5870448"/>
            <a:ext cx="144018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13632" y="5870448"/>
            <a:ext cx="14401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falcosidekick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63540" y="5870448"/>
            <a:ext cx="117957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63540" y="5870448"/>
            <a:ext cx="117957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journalctl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406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5  · 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DevOps Fundamentals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Source control and branching, CI/CD pipelines, web-service APIs (REST / GraphQL) and container orchestration with Kubernetes.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407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· 10% OF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DevOps Fundamentals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Git Source Control &amp; Branching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Core Git workflow: commit → push → branch → PR → merge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CI/CD Pipeline with GitHub Actions (act)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pipeline is YAML + jobs + dependencies (needs:) forming a DAG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REST &amp; GraphQL APIs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REST is stateless, uses HTTP verbs, one resource per URL, described by OpenAPI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Container Orchestration with Kubernetes (k3s)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k3s is a minimal single-binary Kubernetes cluster installable in one command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408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 Labs — DevOps Fundamentals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Labs 29–30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29: Git Source Control &amp; Branching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30: CI/CD Pipeline with GitHub Actions (act)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Labs 31–32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31: REST &amp; GraphQL APIs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32: Container Orchestration with Kubernetes (k3s)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409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5 · TOPIC 5.1 ·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Automation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Why we script repetitive cloud work, how automation differs from orchestration, and the guardrails that keep it safe.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5.1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410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Why Automate Cloud Operations?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Speed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script provisions in seconds what a human clicks through in an hour.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Consistency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same code runs the same way every time - no fat-finger config drift.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script manages 3 servers or 3,000; humans do not scale linearly.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Auditability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Scripts in Git show exactly who changed what, when, and why.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Toil reduction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Engineers stop doing repetitive manual work and build instead.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Cost control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Auto-stop dev VMs at night; auto-delete orphaned disks and IPs.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411</a:t>
            </a:r>
          </a:p>
        </p:txBody>
      </p:sp>
    </p:spTree>
  </p:cSld>
  <p:clrMapOvr>
    <a:masterClrMapping/>
  </p:clrMapOvr>
</p:sld>
</file>

<file path=ppt/slides/slide4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Automation vs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Automation (one task)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Orchestration (many tasks)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Executes a single task without human input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Create a user, snapshot a disk, restart a service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Implemented as scripts against cloud APIs/CLIs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bash + aws cli, Python + boto3, PowerShell + Az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Small, focused scope of impact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Coordinates many interdependent automated tasks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Deploy an entire 3-tier app: network, VMs, DB, DNS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Policy-driven: define desired state, engine executes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Kubernetes, Terraform, AWS Step Functions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Wide scope of impact - needs stronger guardrails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412</a:t>
            </a:r>
          </a:p>
        </p:txBody>
      </p:sp>
    </p:spTree>
  </p:cSld>
  <p:clrMapOvr>
    <a:masterClrMapping/>
  </p:clrMapOvr>
</p:sld>
</file>

<file path=ppt/slides/slide4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Scripting Languages for Cloud Ops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Default glue language on Linux VMs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Chains CLI tools: aws, az, gcloud, kubectl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Great for cron jobs and boot-time user data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Weak at parsing JSON - pair it with jq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Python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SDKs for every cloud: boto3, azure-sdk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Real data structures, error handling, tests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The language of Lambda and Cloud Functions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Best choice once logic gets non-trivial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PowerShell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First-class on Windows and Azure (Az module)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Object pipeline, not text pipeline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Cross-platform since PowerShell 7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Common in hybrid AD/Azure estates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413</a:t>
            </a:r>
          </a:p>
        </p:txBody>
      </p:sp>
    </p:spTree>
  </p:cSld>
  <p:clrMapOvr>
    <a:masterClrMapping/>
  </p:clrMapOvr>
</p:sld>
</file>

<file path=ppt/slides/slide4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Scheduled Tasks: cron and Cloud Schedulers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Scheduler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Where it runs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Typical use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cron / crontab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Any Linux host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Nightly backup script at 02:00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systemd timers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Modern Linux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cron with logging + dependencies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Task Scheduler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Windows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PowerShell maintenance jobs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EventBridge Scheduler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AWS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Cron for Lambda, no server needed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Azure Automation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Azure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Scheduled runbooks against Azure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Cloud Scheduler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GCP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Trigger HTTP targets or Pub/Sub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414</a:t>
            </a:r>
          </a:p>
        </p:txBody>
      </p:sp>
    </p:spTree>
  </p:cSld>
  <p:clrMapOvr>
    <a:masterClrMapping/>
  </p:clrMapOvr>
</p:sld>
</file>

<file path=ppt/slides/slide4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Maturity: Runbook to Playbook to Self-Service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Runbook: a documented manual procedure a human follows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Script the repeatable steps (bash / Python)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Schedule or trigger it (cron, pipeline, event)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Playbook: codified end-to-end response (e.g. Ansible)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Self-service: one-click, policy-guarded automation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415</a:t>
            </a:r>
          </a:p>
        </p:txBody>
      </p:sp>
    </p:spTree>
  </p:cSld>
  <p:clrMapOvr>
    <a:masterClrMapping/>
  </p:clrMapOvr>
</p:sld>
</file>

<file path=ppt/slides/slide4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Toil: the Work Automation Should Kill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Manual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human runs the same commands by hand, again and again.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Repetitive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50th password reset teaches you nothing new.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 lasting value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system is no better after the task than before 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Scales with load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Twice the servers means twice the tickets - unless automated.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416</a:t>
            </a:r>
          </a:p>
        </p:txBody>
      </p:sp>
    </p:spTree>
  </p:cSld>
  <p:clrMapOvr>
    <a:masterClrMapping/>
  </p:clrMapOvr>
</p:sld>
</file>

<file path=ppt/slides/slide4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Guardrails for Safe Automation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Idempotency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Running the script twice must not break anything - check before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Dry-run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terraform plan, ansible --check, aws --dryrun preview the blast radius.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Least privilege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automation identity gets only the IAM permissions it needs.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Approval gates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Destructive actions (delete, scale-to-zero) need a human sign-off.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Logging + alerts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run leaves an audit trail; failures page someone.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Scope of impact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 what a command touches BEFORE you run it - a CV0-004 favourite.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417</a:t>
            </a:r>
          </a:p>
        </p:txBody>
      </p:sp>
    </p:spTree>
  </p:cSld>
  <p:clrMapOvr>
    <a:masterClrMapping/>
  </p:clrMapOvr>
</p:sld>
</file>

<file path=ppt/slides/slide4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Scripting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Keep every script in source control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scripts ARE code (see Topic 5.2)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Never hardcode credentials; pull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secrets from a vault or environment at runtime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Fail loudly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exit non-zero on error so schedulers and pipelines can detect failure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Make output machine-readable (JSON)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so other tools can consume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 in dev first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Killercoda sandbox is a free place to rehearse safely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418</a:t>
            </a:r>
          </a:p>
        </p:txBody>
      </p:sp>
    </p:spTree>
  </p:cSld>
  <p:clrMapOvr>
    <a:masterClrMapping/>
  </p:clrMapOvr>
</p:sld>
</file>

<file path=ppt/slides/slide4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Automation executes one task; orchestration coordinates many toward a desired state.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On the exam, single-task scripting = automation; multi-step, policy-driven workflows across systems = orchestration. Always weigh the scope of impact.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419</a:t>
            </a:r>
          </a:p>
        </p:txBody>
      </p:sp>
    </p:spTree>
  </p:cSld>
  <p:clrMapOvr>
    <a:masterClrMapping/>
  </p:clrMapOvr>
</p:sld>
</file>

<file path=ppt/slides/slide4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5 · TOPIC 5.2 ·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Source Control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Git's commit-branch-merge model, branching strategies, pull requests and the hosting platforms teams build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5.2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420</a:t>
            </a:r>
          </a:p>
        </p:txBody>
      </p:sp>
    </p:spTree>
  </p:cSld>
  <p:clrMapOvr>
    <a:masterClrMapping/>
  </p:clrMapOvr>
</p:sld>
</file>

<file path=ppt/slides/slide4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Git in Six Objects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Repository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versioned project: all files plus their entire history, in .git/.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Commit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snapshot of the code with author, timestamp, message and unique hash.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Branch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movable pointer to a line of commits - isolate work without copies.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Merge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Combine one branch's commits into another; Git auto-joins where it can.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Remote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hosted copy (GitHub/GitLab/Gitea) that the team pushes to and pulls from.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Tag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permanent label on one commit - used to mark releases like v2.1.0.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421</a:t>
            </a:r>
          </a:p>
        </p:txBody>
      </p:sp>
    </p:spTree>
  </p:cSld>
  <p:clrMapOvr>
    <a:masterClrMapping/>
  </p:clrMapOvr>
</p:sld>
</file>

<file path=ppt/slides/slide4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Everyday Git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 clone - copy the remote repo locally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 checkout -b feature/x - branch off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edit, then git add + git commit - snapshot the change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 push - publish the branch to the remote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open a pull request - ask for review and merge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422</a:t>
            </a:r>
          </a:p>
        </p:txBody>
      </p:sp>
    </p:spTree>
  </p:cSld>
  <p:clrMapOvr>
    <a:masterClrMapping/>
  </p:clrMapOvr>
</p:sld>
</file>

<file path=ppt/slides/slide4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Branching Strategies Compared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Feature branching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One short-lived branch per change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Merged to main via pull request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Simple; the default on GitHub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Risk: long-lived branches drift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GitFlow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main + develop + release/hotfix branches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Heavyweight, release-train friendly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Suits versioned, scheduled software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Overkill for continuous deployment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Trunk-based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Everyone commits to main, daily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Tiny changes behind feature flags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Prerequisite for real CI/CD speed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Needs strong automated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423</a:t>
            </a:r>
          </a:p>
        </p:txBody>
      </p:sp>
    </p:spTree>
  </p:cSld>
  <p:clrMapOvr>
    <a:masterClrMapping/>
  </p:clrMapOvr>
</p:sld>
</file>

<file path=ppt/slides/slide4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Pull Requests and Code Review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What a PR 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request to merge branch A into branch B, with diff, discussion, approvals.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review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second pair of eyes catches bugs, security holes and bad design early.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Automated checks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CI runs tests, linters and scans on every PR before a human even looks.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Review outcomes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Approve, request changes, or comment - then merge, squash or rebase.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424</a:t>
            </a:r>
          </a:p>
        </p:txBody>
      </p:sp>
    </p:spTree>
  </p:cSld>
  <p:clrMapOvr>
    <a:masterClrMapping/>
  </p:clrMapOvr>
</p:sld>
</file>

<file path=ppt/slides/slide4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Resolving a Merge Conflict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Two branches edit the same lines of the same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 merge stops and inserts &lt;&lt;&lt;&lt;&lt;&lt;&lt; / ======= / &gt;&gt;&gt;&gt;&gt;&gt;&gt; markers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 human edits the file to keep the correct content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 add marks the conflict resolved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 commit completes the merge - history records both parents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425</a:t>
            </a:r>
          </a:p>
        </p:txBody>
      </p:sp>
    </p:spTree>
  </p:cSld>
  <p:clrMapOvr>
    <a:masterClrMapping/>
  </p:clrMapOvr>
</p:sld>
</file>

<file path=ppt/slides/slide4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Branch Protection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No direct pushes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Changes to main only arrive through a reviewed pull request.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Required approvals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At least N reviewers must approve before merge is allowed.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Status checks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CI must pass (tests, scans) before the merge button unlocks.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Signed commits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Optionally require GPG-signed commits to prove authorship.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426</a:t>
            </a:r>
          </a:p>
        </p:txBody>
      </p:sp>
    </p:spTree>
  </p:cSld>
  <p:clrMapOvr>
    <a:masterClrMapping/>
  </p:clrMapOvr>
</p:sld>
</file>

<file path=ppt/slides/slide4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Monorepo vs Polyrepo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Monorepo (one big 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Polyrepo (repo per service)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All services and shared code in one repository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Google and Meta famously work this way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Atomic cross-service changes in one commit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Needs tooling to build only what changed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One access policy for everything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Each service/team owns its own repository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The common pattern for microservices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Independent versioning, pipelines, permissions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Cross-repo changes need multiple PRs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Shared code must be published as packages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427</a:t>
            </a:r>
          </a:p>
        </p:txBody>
      </p:sp>
    </p:spTree>
  </p:cSld>
  <p:clrMapOvr>
    <a:masterClrMapping/>
  </p:clrMapOvr>
</p:sld>
</file>

<file path=ppt/slides/slide4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SOURCE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Git Hosting Platforms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Hosting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Known for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GitHub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SaaS (+ Enterprise)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Largest community, Actions CI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GitLab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SaaS or self-hosted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Built-in full DevOps pipeline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Gitea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Self-hosted, tiny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Lightweight Go binary - Lab 29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Bitbucket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SaaS (Atlassian)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Jira integration, Pipelines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AWS CodeCommit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Managed on AWS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Private repos behind IAM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428</a:t>
            </a:r>
          </a:p>
        </p:txBody>
      </p:sp>
    </p:spTree>
  </p:cSld>
  <p:clrMapOvr>
    <a:masterClrMapping/>
  </p:clrMapOvr>
</p:sld>
</file>

<file path=ppt/slides/slide4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Terms + Lab 29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Code commit / push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Commit saves a snapshot locally; push uploads commits to the remote.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Pull request + review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gate where humans and CI approve a merge - know the order.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Branch management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Feature vs GitFlow vs trunk-based - match the strategy to the team.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Version management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Tags and semantic versions (v1.2.3) mark releasable points.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29 (Killercoda)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run Gitea in Docker, then commit, branch, conflict and PR for real.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Watch for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Merge vs rebase wording, and what branch protection actually blocks.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429</a:t>
            </a:r>
          </a:p>
        </p:txBody>
      </p:sp>
    </p:spTree>
  </p:cSld>
  <p:clrMapOvr>
    <a:masterClrMapping/>
  </p:clrMapOvr>
</p:sld>
</file>

<file path=ppt/slides/slide4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Commit locally, push to share, branch to isolate, pull-request to review, merge to 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CV0-004 objective 5.1 names exactly these verbs - version management, code review, pull request, push, commit, merge and branch management.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430</a:t>
            </a:r>
          </a:p>
        </p:txBody>
      </p:sp>
    </p:spTree>
  </p:cSld>
  <p:clrMapOvr>
    <a:masterClrMapping/>
  </p:clrMapOvr>
</p:sld>
</file>

<file path=ppt/slides/slide4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5 · TOPIC 5.3 ·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CI/CD Pipelines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From code integration to automated deployment: stages, artifacts, pipeline-as-code, quality gates, secrets and rollback.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5.3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431</a:t>
            </a:r>
          </a:p>
        </p:txBody>
      </p:sp>
    </p:spTree>
  </p:cSld>
  <p:clrMapOvr>
    <a:masterClrMapping/>
  </p:clrMapOvr>
</p:sld>
</file>

<file path=ppt/slides/slide4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CI vs Delivery vs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Continuous Integration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Merge small changes to main often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 push triggers build + tests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Broken builds are fixed immediately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Goal: code that always integrates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Continuous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 good build is deployable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Artifact staged, release on approval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 HUMAN clicks the deploy button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Goal: releasing is boring and safe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Continuous Deployment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 passing build goes to prod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No human gate - tests are the gate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Needs excellent automated testing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Goal: minutes from commit to users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432</a:t>
            </a:r>
          </a:p>
        </p:txBody>
      </p:sp>
    </p:spTree>
  </p:cSld>
  <p:clrMapOvr>
    <a:masterClrMapping/>
  </p:clrMapOvr>
</p:sld>
</file>

<file path=ppt/slides/slide4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Canonical Pipeline Stages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Commit - push to Git triggers the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Test - unit tests and linters run first (fail fast)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Build - compile / package into an artifact or 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- security: SAST, dependency and image scanning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Deploy - staging first, then production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433</a:t>
            </a:r>
          </a:p>
        </p:txBody>
      </p:sp>
    </p:spTree>
  </p:cSld>
  <p:clrMapOvr>
    <a:masterClrMapping/>
  </p:clrMapOvr>
</p:sld>
</file>

<file path=ppt/slides/slide4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Artifacts: What Pipelines Produce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Container images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Docker/OCI images - the dominant deploy artifact today.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VM images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AMIs, Azure images - baked with Packer for immutable servers.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Packages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RPM (Red Hat), .deb (Debian/Ubuntu), ZIP and tar archives.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Flat files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Static sites, configs, compiled binaries shipped as-is.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Registries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Docker Hub, ECR, ACR, GCP Artifact Registry store and version them.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Public vs private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Public repos share openly; private repos guard proprietary code.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434</a:t>
            </a:r>
          </a:p>
        </p:txBody>
      </p:sp>
    </p:spTree>
  </p:cSld>
  <p:clrMapOvr>
    <a:masterClrMapping/>
  </p:clrMapOvr>
</p:sld>
</file>

<file path=ppt/slides/slide4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Pipeline as Code (YAML)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idea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pipeline definition lives in the repo, versioned like any code.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GitHub Actions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.github/workflows/ci.yml - jobs, steps, runners, marketplace actions.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GitLab CI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.gitlab-ci.yml - stages and jobs, runners you can self-host.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Jenkins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Jenkinsfile (Groovy) checked into the repo, run by a Jenkins server.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435</a:t>
            </a:r>
          </a:p>
        </p:txBody>
      </p:sp>
    </p:spTree>
  </p:cSld>
  <p:clrMapOvr>
    <a:masterClrMapping/>
  </p:clrMapOvr>
</p:sld>
</file>

<file path=ppt/slides/slide4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Quality Gates and Approvals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 gate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Pipeline stops if any unit or integration test fails.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Coverage gate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Reject builds whose test coverage drops below a threshold.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Security gate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Block deploys on critical CVEs found by the scan stage.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Manual approval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Protected environments require a named human to approve prod.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436</a:t>
            </a:r>
          </a:p>
        </p:txBody>
      </p:sp>
    </p:spTree>
  </p:cSld>
  <p:clrMapOvr>
    <a:masterClrMapping/>
  </p:clrMapOvr>
</p:sld>
</file>

<file path=ppt/slides/slide4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Secrets in Pipelines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Never in Git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credential committed once lives in history forever - rotate 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Platform secrets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GitHub/GitLab encrypted secrets, injected as masked variables.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Secret managers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AWS Secrets Manager, Azure Key Vault, HashiCorp Vault at runtime.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OIDC federation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Pipelines assume short-lived cloud roles - no stored keys at all.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437</a:t>
            </a:r>
          </a:p>
        </p:txBody>
      </p:sp>
    </p:spTree>
  </p:cSld>
  <p:clrMapOvr>
    <a:masterClrMapping/>
  </p:clrMapOvr>
</p:sld>
</file>

<file path=ppt/slides/slide4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Rollback Strategies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How it works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Rollback speed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Redeploy previous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Ship the last good artifact again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Minutes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Blue-green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Switch traffic back to idle stack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Seconds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Canary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Abort while only 5% saw the bug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Seconds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Feature flags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Turn the feature off, no deploy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Instant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IaC revert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git revert + re-apply Terraform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Minutes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438</a:t>
            </a:r>
          </a:p>
        </p:txBody>
      </p:sp>
    </p:spTree>
  </p:cSld>
  <p:clrMapOvr>
    <a:masterClrMapping/>
  </p:clrMapOvr>
</p:sld>
</file>

<file path=ppt/slides/slide4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30: a Real Pipeline with 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Write a GitHub Actions workflow in .github/workflows/ci.yml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act runs the workflow locally in Docker (Killercoda)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pytest tests the app, then docker build packages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Trivy scans the image for vulnerabilities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'deploy' job runs the freshly built container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439</a:t>
            </a:r>
          </a:p>
        </p:txBody>
      </p:sp>
    </p:spTree>
  </p:cSld>
  <p:clrMapOvr>
    <a:masterClrMapping/>
  </p:clrMapOvr>
</p:sld>
</file>

<file path=ppt/slides/slide4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CI/CD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Pipeline Health: Good vs Bad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Healthy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Anti-patterns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Fails fast - cheap checks run first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Under 10 minutes from push to verdict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Same artifact promoted dev to staging to prod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Every deploy is traceable to a commit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Flaky tests everyone re-runs and ignores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Manual steps hidden between stages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Rebuilding the artifact per environment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Secrets pasted into pipeline variables in 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440</a:t>
            </a:r>
          </a:p>
        </p:txBody>
      </p:sp>
    </p:spTree>
  </p:cSld>
  <p:clrMapOvr>
    <a:masterClrMapping/>
  </p:clrMapOvr>
</p:sld>
</file>

<file path=ppt/slides/slide4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Delivery stages every build for release; deployment ships it with no human gate.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Exam trick: 'requires manual approval to production' = continuous delivery; 'every passing commit reaches users automatically' = continuous deployment.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441</a:t>
            </a:r>
          </a:p>
        </p:txBody>
      </p:sp>
    </p:spTree>
  </p:cSld>
  <p:clrMapOvr>
    <a:masterClrMapping/>
  </p:clrMapOvr>
</p:sld>
</file>

<file path=ppt/slides/slide4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5 · TOPIC 5.4 ·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System Integration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How cloud systems talk: REST, GraphQL, SOAP and gRPC, webhooks, API gateways, authentication and rate limits.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5.4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442</a:t>
            </a:r>
          </a:p>
        </p:txBody>
      </p:sp>
    </p:spTree>
  </p:cSld>
  <p:clrMapOvr>
    <a:masterClrMapping/>
  </p:clrMapOvr>
</p:sld>
</file>

<file path=ppt/slides/slide4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Integration Building Blocks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API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contract letting one program call another's functions over the network.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Web 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 API exposed over HTTP - REST, SOAP, GraphQL, gRPC are the styles.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Webhook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reverse API call: the provider pushes an HTTP POST to you on events.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API gateway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managed front door: routing, auth, throttling for all your APIs.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OpenAPI spec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Machine-readable REST contract (Swagger) - generates docs and clients.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WebSocket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persistent two-way channel over one connection - live data, chat.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443</a:t>
            </a:r>
          </a:p>
        </p:txBody>
      </p:sp>
    </p:spTree>
  </p:cSld>
  <p:clrMapOvr>
    <a:masterClrMapping/>
  </p:clrMapOvr>
</p:sld>
</file>

<file path=ppt/slides/slide4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REST Verbs (CRUD over HTTP)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Verb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Idempotent?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GET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Read a resource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Create a resource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PUT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Replace a resource fully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PATCH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Update part of a resource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Not guaranteed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DELETE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Remove a resource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Yes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444</a:t>
            </a:r>
          </a:p>
        </p:txBody>
      </p:sp>
    </p:spTree>
  </p:cSld>
  <p:clrMapOvr>
    <a:masterClrMapping/>
  </p:clrMapOvr>
</p:sld>
</file>

<file path=ppt/slides/slide4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HTTP Status Codes to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200 / 201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OK / Created - the request succeeded.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301 / 304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Redirects and caching - moved permanently / not modified.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401 vs 403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401 = not authenticated; 403 = authenticated but not allowed.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404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Resource not found - check the URL and the resource ID.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429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 Many Requests - you hit a rate limit; back off and retry.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500 / 503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Server error / service unavailable - the problem is on their side.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445</a:t>
            </a:r>
          </a:p>
        </p:txBody>
      </p:sp>
    </p:spTree>
  </p:cSld>
  <p:clrMapOvr>
    <a:masterClrMapping/>
  </p:clrMapOvr>
</p:sld>
</file>

<file path=ppt/slides/slide4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REST vs GraphQL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REST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GraphQL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One URL per resource, HTTP verbs act on it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GET /users/7 then GET /users/7/orders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Can over-fetch or under-fetch data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Caching is easy (GET + URL = cache key)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Simple, universal, easiest to 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One endpoint; the CLIENT states the shape it wants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query { user(id:7){ name orders { total } } }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Exactly the fields asked for - no waste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Strongly typed schema, introspection built in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Great for mobile apps and aggregating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446</a:t>
            </a:r>
          </a:p>
        </p:txBody>
      </p:sp>
    </p:spTree>
  </p:cSld>
  <p:clrMapOvr>
    <a:masterClrMapping/>
  </p:clrMapOvr>
</p:sld>
</file>

<file path=ppt/slides/slide4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SOAP vs REST vs gRPC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SOAP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XML envelopes, strict WSDL contract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Built-in WS-Security standards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Legacy enterprise and banking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Heavy and verbose by modern taste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JSON over plain HTTP verbs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Stateless, cacheable, human-readable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The default for public cloud APIs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Loose contract unless OpenAPI used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gRPC (modern RPC)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Remote procedure call over HTTP/2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Binary Protobuf - small and fast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Streaming both directions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Ideal service-to-service internally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447</a:t>
            </a:r>
          </a:p>
        </p:txBody>
      </p:sp>
    </p:spTree>
  </p:cSld>
  <p:clrMapOvr>
    <a:masterClrMapping/>
  </p:clrMapOvr>
</p:sld>
</file>

<file path=ppt/slides/slide4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How a Webhook Fires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You register a callback URL with the 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An event happens (push to repo, payment settles)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Provider sends HTTP POST with a JSON payload to your URL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You verify the signature header, then process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Respond 200 quickly - or the provider retries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448</a:t>
            </a:r>
          </a:p>
        </p:txBody>
      </p:sp>
    </p:spTree>
  </p:cSld>
  <p:clrMapOvr>
    <a:masterClrMapping/>
  </p:clrMapOvr>
</p:sld>
</file>

<file path=ppt/slides/slide4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API Gateways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What they do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Single entry point: route, authenticate, throttle, cache, transform.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API Gateway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Fronts Lambda and HTTP backends; usage plans and API keys.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API Management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Policies, developer portal, subscription keys.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GCP Apigee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Enterprise API management, monetisation, analytics.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Security role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TLS termination, WAF hookup, request validation at the edge.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Ops role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Central metrics, logging and versioning for every API behind it.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449</a:t>
            </a:r>
          </a:p>
        </p:txBody>
      </p:sp>
    </p:spTree>
  </p:cSld>
  <p:clrMapOvr>
    <a:masterClrMapping/>
  </p:clrMapOvr>
</p:sld>
</file>

<file path=ppt/slides/slide4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Authenticating API Callers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API keys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Static string in a header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Identifies the calling app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Simple - but no user identity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Rotate them; never commit them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OAuth 2.0 + JWT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Delegated authorisation standard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Client gets a short-lived token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Scopes limit what a token may do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The norm for user-facing APIs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Cloud IAM signing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Requests signed with credentials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SigV4, Azure AD tokens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Ties calls to IAM roles/policies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How cloud CLIs and SDKs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450</a:t>
            </a:r>
          </a:p>
        </p:txBody>
      </p:sp>
    </p:spTree>
  </p:cSld>
  <p:clrMapOvr>
    <a:masterClrMapping/>
  </p:clrMapOvr>
</p:sld>
</file>

<file path=ppt/slides/slide4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Rate Limiting and Live Channels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Why limit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Protects the backend from abuse and one noisy tenant.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Throttle + quota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 requests/second burst limits plus daily or monthly quotas.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Client behaviour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 HTTP 429, honour Retry-After and use exponential backoff.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WebSockets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Skip request/response entirely: one socket, real-time push both ways.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451</a:t>
            </a:r>
          </a:p>
        </p:txBody>
      </p:sp>
    </p:spTree>
  </p:cSld>
  <p:clrMapOvr>
    <a:masterClrMapping/>
  </p:clrMapOvr>
</p:sld>
</file>

<file path=ppt/slides/slide4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REST asks, webhooks tell, GraphQL shapes, gateways guard - Lab 31 runs all of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In Lab 31 on Killercoda you curl a REST API through every verb, host a GraphQL endpoint, and stream over a WebSocket - the exam's web-services trio.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452</a:t>
            </a:r>
          </a:p>
        </p:txBody>
      </p:sp>
    </p:spTree>
  </p:cSld>
  <p:clrMapOvr>
    <a:masterClrMapping/>
  </p:clrMapOvr>
</p:sld>
</file>

<file path=ppt/slides/slide4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5 · TOPIC 5.5 ·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DevOps Tools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CV0-004 toolchain: Git, Jenkins and GitHub Actions, Ansible, Terraform, Docker, Kubernetes, ELK and Grafana.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5.5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453</a:t>
            </a:r>
          </a:p>
        </p:txBody>
      </p:sp>
    </p:spTree>
  </p:cSld>
  <p:clrMapOvr>
    <a:masterClrMapping/>
  </p:clrMapOvr>
</p:sld>
</file>

<file path=ppt/slides/slide4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Exam's Named Toolchain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989963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Git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Source control - every other tool is triggered by a Git change.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1989963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Jenkins / GitHub Actions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CI/CD engines that run the pipeline on each push.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46654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153537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Terraform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Infrastructure as Code - declares cloud resources, plans, applies.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46654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153537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Ansible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Configuration management - agentless playbooks over SSH.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10228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431711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Docker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Packages the app plus dependencies into one portable image.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110228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431711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Kubernetes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Orchestrates containers: scheduling, scaling, self-healing.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73802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4984" y="5480685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09928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ELK stack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Elasticsearch + Logstash + Kibana: collect, index, search logs.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5273802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69380" y="5480685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9380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4324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Grafana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Dashboards and alerting over metrics from many data sources.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454</a:t>
            </a:r>
          </a:p>
        </p:txBody>
      </p:sp>
    </p:spTree>
  </p:cSld>
  <p:clrMapOvr>
    <a:masterClrMapping/>
  </p:clrMapOvr>
</p:sld>
</file>

<file path=ppt/slides/slide4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Pipeline Engines Compared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Jenkins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Self-hosted OSS veteran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Jenkinsfile (Groovy) pipelines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Thousands of plugins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You patch and scale it yourself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GitHub Actions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Built into GitHub - zero setup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YAML workflows, hosted runners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Marketplace of reusable actions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30 runs these locally via 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GitLab CI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Integrated with GitLab repos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.gitlab-ci.yml, self-host runners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Single-app DevOps platform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Strong built-in security scans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455</a:t>
            </a:r>
          </a:p>
        </p:txBody>
      </p:sp>
    </p:spTree>
  </p:cSld>
  <p:clrMapOvr>
    <a:masterClrMapping/>
  </p:clrMapOvr>
</p:sld>
</file>

<file path=ppt/slides/slide4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Terraform vs Ansible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Terraform (provision)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Ansible (configure)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Declarative IaC - describe the end state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Creates VPCs, VMs, databases, DNS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State file tracks what exists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plan shows the diff before apply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Immutable style: replace, don't 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Procedural playbooks - ordered tasks in YAML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Installs packages, edits configs, restarts services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Agentless - connects over SSH/WinRM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Idempotent modules skip work already done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Mutable style: converge existing servers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456</a:t>
            </a:r>
          </a:p>
        </p:txBody>
      </p:sp>
    </p:spTree>
  </p:cSld>
  <p:clrMapOvr>
    <a:masterClrMapping/>
  </p:clrMapOvr>
</p:sld>
</file>

<file path=ppt/slides/slide4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Docker: Package Once, Run Anywhere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Dockerfile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Recipe that builds the image layer by layer, versioned in Git.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Immutable artifact holding app + runtime + dependencies.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Container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running instance of an image, isolated by namespaces/cgroups.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Registry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Docker Hub, ECR, ACR, Artifact Registry distribute the images.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457</a:t>
            </a:r>
          </a:p>
        </p:txBody>
      </p:sp>
    </p:spTree>
  </p:cSld>
  <p:clrMapOvr>
    <a:masterClrMapping/>
  </p:clrMapOvr>
</p:sld>
</file>

<file path=ppt/slides/slide4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Kubernetes Essentials (Lab 32)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Cluster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Control plane + worker nodes; k3s packs it into one small binary.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Pod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Smallest deployable unit - one or more tightly coupled containers.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Deployment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Declares replicas + image; K8s keeps reality matching the spec.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Stable virtual IP/DNS load-balancing across ephemeral pods.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kubectl scale or autoscalers change replica counts on demand.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Rolling update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New image rolls out pod by pod - zero downtime, easy undo.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458</a:t>
            </a:r>
          </a:p>
        </p:txBody>
      </p:sp>
    </p:spTree>
  </p:cSld>
  <p:clrMapOvr>
    <a:masterClrMapping/>
  </p:clrMapOvr>
</p:sld>
</file>

<file path=ppt/slides/slide4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One Change Through the Whole Toolchain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Developer pushes a commit to Git (GitHub/GitLab/Gitea)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GitHub Actions or Jenkins runs test - build - scan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Docker image lands in the registry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Terraform/Ansible ensure the environment exists and is configured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Kubernetes rolls the new image out across pods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ELK indexes the logs; Grafana dashboards watch the metrics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459</a:t>
            </a:r>
          </a:p>
        </p:txBody>
      </p:sp>
    </p:spTree>
  </p:cSld>
  <p:clrMapOvr>
    <a:masterClrMapping/>
  </p:clrMapOvr>
</p:sld>
</file>

<file path=ppt/slides/slide4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Observability Pair: ELK and Grafana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Logstash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Ingest pipeline - collects, parses and enriches log events.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Elasticsearch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Distributed search index that stores and queries the logs.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Kibana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UI for searching logs and visualising Elasticsearch data.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Grafana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Tool-agnostic dashboards + alerts: Prometheus, Loki, CloudWatch.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460</a:t>
            </a:r>
          </a:p>
        </p:txBody>
      </p:sp>
    </p:spTree>
  </p:cSld>
  <p:clrMapOvr>
    <a:masterClrMapping/>
  </p:clrMapOvr>
</p:sld>
</file>

<file path=ppt/slides/slide4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Choosing Tools Wisely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Managed vs self-hosted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EKS vs your own kubeadm cluster: trade control for undifferentiated ops.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Team skills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best tool nobody knows loses to a good tool everyone knows.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Ecosystem fit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Already on GitHub? Actions beats standing up Jenkins.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Lock-in vs leverage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Terraform spans clouds; CloudFormation is AWS-only but deep.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Integration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Tools must chain: Git triggers CI, CI feeds registry, K8s pulls.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Total cost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Licences + runners + the engineer-hours to keep it all alive.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461</a:t>
            </a:r>
          </a:p>
        </p:txBody>
      </p:sp>
    </p:spTree>
  </p:cSld>
  <p:clrMapOvr>
    <a:masterClrMapping/>
  </p:clrMapOvr>
</p:sld>
</file>

<file path=ppt/slides/slide4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DEVOPS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Managed Equivalents in the Big Three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Capability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262317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AWS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65372" y="1828800"/>
            <a:ext cx="262317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9338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Azure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88542" y="1828800"/>
            <a:ext cx="2623170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16558" y="182880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GCP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Kubernetes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4220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7021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EKS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537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338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88542" y="2395728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6558" y="2395728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GKE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CI/CD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4220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7021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CodePipeline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6537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338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DevOps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788542" y="2962656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16558" y="2962656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Build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Container registry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ECR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537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338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ACR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8542" y="3529584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16558" y="3529584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Artifact Registry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IaC (native)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4220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7021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CloudFormation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6537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338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ARM / Bicep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88542" y="4096512"/>
            <a:ext cx="262317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16558" y="4096512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Deployment Manager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61B26"/>
                </a:solidFill>
                <a:latin typeface="Arial"/>
              </a:rPr>
              <a:t>Monitoring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4220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7021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CloudWatch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6537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9338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Azure Monitor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88542" y="4663440"/>
            <a:ext cx="2623170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16558" y="4663440"/>
            <a:ext cx="236713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161B26"/>
                </a:solidFill>
                <a:latin typeface="Arial"/>
              </a:rPr>
              <a:t>Cloud Monitoring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462</a:t>
            </a:r>
          </a:p>
        </p:txBody>
      </p:sp>
    </p:spTree>
  </p:cSld>
  <p:clrMapOvr>
    <a:masterClrMapping/>
  </p:clrMapOvr>
</p:sld>
</file>

<file path=ppt/slides/slide4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Know each tool's category: what it IS beats how to drive it, for this exam.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Terraform provisions, Ansible configures, Docker packages, Kubernetes orchestrates, Jenkins/Actions automate pipelines, ELK/Grafana observe.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463</a:t>
            </a:r>
          </a:p>
        </p:txBody>
      </p:sp>
    </p:spTree>
  </p:cSld>
  <p:clrMapOvr>
    <a:masterClrMapping/>
  </p:clrMapOvr>
</p:sld>
</file>

<file path=ppt/slides/slide4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5 · TOPIC 5.6 · EXAM WEIGHT 10%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Event-Driven Architectures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Decoupling systems with events: pub/sub, queues vs streams, serverless handlers, fan-out and backpressure.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5.6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464</a:t>
            </a:r>
          </a:p>
        </p:txBody>
      </p:sp>
    </p:spTree>
  </p:cSld>
  <p:clrMapOvr>
    <a:masterClrMapping/>
  </p:clrMapOvr>
</p:sld>
</file>

<file path=ppt/slides/slide4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Request-Driven vs Event-Driven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Request/response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Event-driven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Caller asks and WAITS for the answer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Synchronous - REST, gRPC calls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Tight coupling: callee must be up now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Failures cascade to the caller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Simple to reason about and debug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Producer announces a fact and moves on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Asynchronous - 'OrderPlaced' event emitted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Loose coupling: consumers process later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Broker buffers while a consumer is down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Eventual consistency needs careful design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465</a:t>
            </a:r>
          </a:p>
        </p:txBody>
      </p:sp>
    </p:spTree>
  </p:cSld>
  <p:clrMapOvr>
    <a:masterClrMapping/>
  </p:clrMapOvr>
</p:sld>
</file>

<file path=ppt/slides/slide4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Anatomy of an Event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Producer emits an event: 'order 123 placed'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Broker (queue, topic or bus) receives and stores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Broker routes or retains per its delivery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Consumers pull or get pushed the event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Each consumer acts independently, at its own pace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466</a:t>
            </a:r>
          </a:p>
        </p:txBody>
      </p:sp>
    </p:spTree>
  </p:cSld>
  <p:clrMapOvr>
    <a:masterClrMapping/>
  </p:clrMapOvr>
</p:sld>
</file>

<file path=ppt/slides/slide4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Pub/Sub Core Concepts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Topic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named channel; publishers send to it without knowing subscribers.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Subscription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Each subscriber gets its own copy of every matching message.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Fan-out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event, many independent consumers - add one without touching others.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Filtering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Subscribers receive only events matching their filter policy.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Dead-letter queue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Poison messages that keep failing are parked for inspection.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At-least-once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Most brokers may redeliver - consumers must be idempotent.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467</a:t>
            </a:r>
          </a:p>
        </p:txBody>
      </p:sp>
    </p:spTree>
  </p:cSld>
  <p:clrMapOvr>
    <a:masterClrMapping/>
  </p:clrMapOvr>
</p:sld>
</file>

<file path=ppt/slides/slide4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Queues, Topics, Streams and Buses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Signature trait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AWS SQS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Queue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One consumer group; msg deleted on 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AWS SNS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Pub/sub topic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Push fan-out to many subscribers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Apache Kafka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Stream (log)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Replayable, ordered, retained events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AWS EventBridge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Event bus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Rule-based routing, SaaS events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Azure Service Bus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Queue + topics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Enterprise messaging, sessions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GCP Pub/Sub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Pub/sub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Global managed topic + subscriptions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468</a:t>
            </a:r>
          </a:p>
        </p:txBody>
      </p:sp>
    </p:spTree>
  </p:cSld>
  <p:clrMapOvr>
    <a:masterClrMapping/>
  </p:clrMapOvr>
</p:sld>
</file>

<file path=ppt/slides/slide4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Queue vs Stream vs Event Bus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Queue (SQS)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Work distribution to N workers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Each message processed once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Consumed message disappears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Think: job ticket in a tray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Stream (Kafka/Kinesis)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Ordered, replayable event log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Many readers, own positions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Retention: hours to forever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Think: DVR you can rewind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Bus (EventBridge)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Central router with rules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Matches events to many targets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Connects SaaS + AWS services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Think: programmable switchboard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469</a:t>
            </a:r>
          </a:p>
        </p:txBody>
      </p:sp>
    </p:spTree>
  </p:cSld>
  <p:clrMapOvr>
    <a:masterClrMapping/>
  </p:clrMapOvr>
</p:sld>
</file>

<file path=ppt/slides/slide4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Serverless Functions as Event Handlers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 pattern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Event source triggers a function; code runs only when events arrive.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Lambda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Fires from S3 uploads, SQS, SNS, EventBridge, API Gateway, DynamoDB.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Azure Functions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Bindings and triggers for Event Grid, Service Bus, Blob storage.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GCP Cloud Functions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Triggered by Pub/Sub messages and Cloud Storage changes.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Scaling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Platform runs one instance per burst of events - to zero when idle.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Pay-per-use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Billed per invocation and duration, not for idle servers.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470</a:t>
            </a:r>
          </a:p>
        </p:txBody>
      </p:sp>
    </p:spTree>
  </p:cSld>
  <p:clrMapOvr>
    <a:masterClrMapping/>
  </p:clrMapOvr>
</p:sld>
</file>

<file path=ppt/slides/slide4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Fan-Out: One Event, Many Reactions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Image lands in an S3 bucket - ObjectCreated event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S3 publishes the event to an SNS topic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SNS fans out to three SQS queues, one per concern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Lambdas consume: thumbnail, virus-scan, audit-log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Add a 4th consumer tomorrow - producers never change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471</a:t>
            </a:r>
          </a:p>
        </p:txBody>
      </p:sp>
    </p:spTree>
  </p:cSld>
  <p:clrMapOvr>
    <a:masterClrMapping/>
  </p:clrMapOvr>
</p:sld>
</file>

<file path=ppt/slides/slide4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Decoupling and Backpressure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Decoupling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Producers and consumers evolve, deploy and fail independently.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Buffering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queue absorbs traffic spikes the consumers cannot instantly handle.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Backpressure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Consumers drain at their own rate instead of being overwhelmed.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Smoothing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flash sale becomes a steady, processable stream of orders.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472</a:t>
            </a:r>
          </a:p>
        </p:txBody>
      </p:sp>
    </p:spTree>
  </p:cSld>
  <p:clrMapOvr>
    <a:masterClrMapping/>
  </p:clrMapOvr>
</p:sld>
</file>

<file path=ppt/slides/slide4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5 - EVENT-DRIVEN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When to Use EDA - and When Not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Great fit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Poor fit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Spiky, bursty workloads (orders, IoT telemetry)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Many teams reacting to the same business events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Long-running background work (encode, ETL)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Integrating systems that must not block each other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Caller needs the answer NOW (login, price check)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Strict ordering + immediate consistency required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Simple CRUD apps - the broker adds pure overhead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Teams unready to debug distributed async flows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473</a:t>
            </a:r>
          </a:p>
        </p:txBody>
      </p:sp>
    </p:spTree>
  </p:cSld>
  <p:clrMapOvr>
    <a:masterClrMapping/>
  </p:clrMapOvr>
</p:sld>
</file>

<file path=ppt/slides/slide4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Events decouple: producers state facts, brokers buffer, consumers react at their pace.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Exam cues: 'decouple services' or 'absorb spikes' = queue/pub-sub; 'replayable ordered history' = stream (Kafka); 'route SaaS events by rule' = EventBridge.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474</a:t>
            </a:r>
          </a:p>
        </p:txBody>
      </p:sp>
    </p:spTree>
  </p:cSld>
  <p:clrMapOvr>
    <a:masterClrMapping/>
  </p:clrMapOvr>
</p:sld>
</file>

<file path=ppt/slides/slide4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· DEVOPS FUNDAMENTALS · LAB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Git Source Control &amp; Branching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Exercise every CV0-004 source-control verb — commit, push, branch, merge, PR review, conflict resolution — against a self-hosted Gitea server.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Core Git workflow: commit → push → branch → PR → merge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Feature branches and pull requests (the code-review sub-objective)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Merge-conflict resolution as a normal part of the workflow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Branch protection: require PR + approval, require CI green, block force-push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git &amp; run Gitea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Create a repository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Clone, commit, push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Branch management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Open a Pull Request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Merge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Resolve a merge conflict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Branch protection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git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89988" y="5870448"/>
            <a:ext cx="196138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189988" y="5870448"/>
            <a:ext cx="196138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Gitea (self-hosted)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61104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61104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0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0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475</a:t>
            </a:r>
          </a:p>
        </p:txBody>
      </p:sp>
    </p:spTree>
  </p:cSld>
  <p:clrMapOvr>
    <a:masterClrMapping/>
  </p:clrMapOvr>
</p:sld>
</file>

<file path=ppt/slides/slide4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· DEVOPS FUNDAMENTALS · LAB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CI/CD Pipeline with GitHub Actions (act)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Build and run a local test → build → scan → deploy CI/CD pipeline with act, mapping each stage to CV0-004 CI/CD concepts.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 pipeline is YAML + jobs + dependencies (needs:) forming a DAG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canonical flow: test → build → scan → deploy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Artifacts and packaging (container image + Dockerfile)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Running Actions locally with act to iterate without pushing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Docker, git &amp; act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Sample repo with a Python app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Define the workflow (ci.yml)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Run the workflow locally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Map to CV0-004 CI/CD concepts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Public vs private repositories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Other free CI options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508760" y="5870448"/>
            <a:ext cx="170078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508760" y="5870448"/>
            <a:ext cx="170078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act (nektos/act)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19272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19272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261104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61104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942332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42332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pytest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84164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84164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Trivy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476</a:t>
            </a:r>
          </a:p>
        </p:txBody>
      </p:sp>
    </p:spTree>
  </p:cSld>
  <p:clrMapOvr>
    <a:masterClrMapping/>
  </p:clrMapOvr>
</p:sld>
</file>

<file path=ppt/slides/slide4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· DEVOPS FUNDAMENTALS · LAB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REST &amp; GraphQL APIs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Call a public REST API, host a local GraphQL server, stream over WebSockets and preview pub/sub event-driven messaging.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REST is stateless, uses HTTP verbs, one resource per URL, described by OpenAPI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GraphQL: a single endpoint where the client picks exactly which fields to return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Comparison of styles: REST vs SOAP vs GraphQL vs gRPC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WebSockets for real-time streams; pub/sub as the base of event-driven architecture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Call a REST endpoint (CRUD)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Host a local GraphQL endpoint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Compare REST vs GraphQL vs SOAP vs RPC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WebSocket stream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Event-driven preview (Redis pub/sub)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50876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50876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76856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76856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71216" y="5870448"/>
            <a:ext cx="135331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71216" y="5870448"/>
            <a:ext cx="13533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GraphQL Yoga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34256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34256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websocat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49824" y="5870448"/>
            <a:ext cx="109270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49824" y="5870448"/>
            <a:ext cx="10927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redis-cli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477</a:t>
            </a:r>
          </a:p>
        </p:txBody>
      </p:sp>
    </p:spTree>
  </p:cSld>
  <p:clrMapOvr>
    <a:masterClrMapping/>
  </p:clrMapOvr>
</p:sld>
</file>

<file path=ppt/slides/slide4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5 · DEVOPS FUNDAMENTALS · LAB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Orchestration with Kubernetes (k3s)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Install k3s and deploy, expose, scale, roll out/rollback, add persistence, self-healing and RBAC on a real Kubernetes cluster.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k3s is a minimal single-binary Kubernetes cluster installable in one command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Deployments manage replica state; Services (NodePort) expose pods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Horizontal scaling, rolling updates, rollout history and rollback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Self-healing via liveness probes; PVCs for persistence; RBAC for authorization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k3s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Deploy an application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Scale (horizontal)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Rolling update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Persistent volume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Liveness probe (self-healing)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RBAC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Map K8s to exam objectives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k3s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189988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189988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kubectl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18688" y="5870448"/>
            <a:ext cx="152704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218688" y="5870448"/>
            <a:ext cx="152704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YAML manifests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55464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55464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478</a:t>
            </a:r>
          </a:p>
        </p:txBody>
      </p:sp>
    </p:spTree>
  </p:cSld>
  <p:clrMapOvr>
    <a:masterClrMapping/>
  </p:clrMapOvr>
</p:sld>
</file>

<file path=ppt/slides/slide4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DOMAIN 6  ·  EXAM WEIGHT 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Troubleshooting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6052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5B6372"/>
                </a:solidFill>
                <a:latin typeface="Arial"/>
              </a:rPr>
              <a:t>Methodically diagnosing and fixing deployment, network, security and container / resource issues using a repeatable triage workflow.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0080"/>
            <a:ext cx="2560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479</a:t>
            </a:r>
          </a:p>
        </p:txBody>
      </p:sp>
    </p:spTree>
  </p:cSld>
  <p:clrMapOvr>
    <a:masterClrMapping/>
  </p:clrMapOvr>
</p:sld>
</file>

<file path=ppt/slides/slide4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· 12% OF THE EXAM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Key Concepts — Troubleshooting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Troubleshoot Deployment Issues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Resource allocation / sizing failures cause OOM kills — size to peak load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Troubleshoot Cloud Network Issues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DNS and NTP break 'everything else' when they fail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Troubleshoot TLS, Cipher &amp; Auth Issues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Disable deprecated TLS (SSLv3/TLS 1.0/1.1); require TLS 1.2+ with AEAD ciphers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Troubleshoot Container &amp; Resource Limits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CrashLoopBackOff = process exits immediately; fix the entrypoint so it stays 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480</a:t>
            </a:r>
          </a:p>
        </p:txBody>
      </p:sp>
    </p:spTree>
  </p:cSld>
  <p:clrMapOvr>
    <a:masterClrMapping/>
  </p:clrMapOvr>
</p:sld>
</file>

<file path=ppt/slides/slide4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WHAT YOU'LL 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Hands-On Labs — Troubleshooting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Labs 33–34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33: Troubleshoot Deployment Issues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34: Troubleshoot Cloud Network Issues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Labs 35–36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35: Troubleshoot TLS, Cipher &amp; Auth Issues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Lab 36: Troubleshoot Container &amp; Resource Limits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481</a:t>
            </a:r>
          </a:p>
        </p:txBody>
      </p:sp>
    </p:spTree>
  </p:cSld>
  <p:clrMapOvr>
    <a:masterClrMapping/>
  </p:clrMapOvr>
</p:sld>
</file>

<file path=ppt/slides/slide4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6 · TOPIC 6.1 · EXAM WEIGHT 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Troubleshooting Methodology &amp; Deployment Issues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The CompTIA structured method, then the classic cloud deployment failure modes: quotas, permissions, throttling and regions.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6.1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482</a:t>
            </a:r>
          </a:p>
        </p:txBody>
      </p:sp>
    </p:spTree>
  </p:cSld>
  <p:clrMapOvr>
    <a:masterClrMapping/>
  </p:clrMapOvr>
</p:sld>
</file>

<file path=ppt/slides/slide4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CompTIA Troubleshooting Method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1. Identify the problem - gather symptoms, question users, note recent changes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2. Establish a theory of probable cause - question the obvious first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3. Test the theory - confirmed? proceed. Not confirmed? new theory or escalate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4. Establish a plan of action and identify potential side effects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5. Implement the solution (or escalate), then verify FULL system function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6. Document findings, actions, outcomes and lessons learned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483</a:t>
            </a:r>
          </a:p>
        </p:txBody>
      </p:sp>
    </p:spTree>
  </p:cSld>
  <p:clrMapOvr>
    <a:masterClrMapping/>
  </p:clrMapOvr>
</p:sld>
</file>

<file path=ppt/slides/slide4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Each Step Really Means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Identify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Reproduce the fault, scope it (one user or all?), and ask: what changed last?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Theorise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Start with the simplest explanation - DNS, quota, expired cert - before exotic causes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Prove or disprove with a command, a log line or a packet capture - never guess twice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 the rollback path and blast radius BEFORE touching production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Implement + verify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Fix, then confirm end-to-end functionality - not just the one symptom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Document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Ticket notes, runbook updates and post-incident review close the loop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484</a:t>
            </a:r>
          </a:p>
        </p:txBody>
      </p:sp>
    </p:spTree>
  </p:cSld>
  <p:clrMapOvr>
    <a:masterClrMapping/>
  </p:clrMapOvr>
</p:sld>
</file>

<file path=ppt/slides/slide4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Questioning the Obvious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Always ask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Common quick wins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What changed?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deploys, config pushes, IaC applies, cert renewals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Who is affected?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one user, one AZ, one region, or everyone?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When did it start?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correlate with change logs and monitoring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Roll back the last deploy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Check service-provider status page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AWS Health Dashboard, Azure Status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Check expiry dates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certificates, tokens, licences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Re-run with verbose logging (-v, --debug)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485</a:t>
            </a:r>
          </a:p>
        </p:txBody>
      </p:sp>
    </p:spTree>
  </p:cSld>
  <p:clrMapOvr>
    <a:masterClrMapping/>
  </p:clrMapOvr>
</p:sld>
</file>

<file path=ppt/slides/slide4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Deployment Failure Modes (Obj 6.1)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989963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Resource allocation / sizing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Instance too small - OOM kills, CPU steal, disk full; resize or right-size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1989963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Permission issues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IAM role or service account lacks an action - AccessDenied 403 in logs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46654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153537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Oversubscription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Host resources promised beyond capacity - noisy neighbours, CPU steal 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46654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153537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Outdated component definitions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Stale AMIs, old module or chart versions break against current APIs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10228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431711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Deprecated functionality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Provider retires an API version or instance type - calls start failing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110228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431711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Full / partial outages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Provider-side incident - some AZs or one service down; check status page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73802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4984" y="5480685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09928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API throttling (429)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Too many requests - provider rate-limits your calls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5273802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69380" y="5480685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9380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4324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Service quotas / limits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Hard caps: vCPUs per region, EIPs, buckets - request an increase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486</a:t>
            </a:r>
          </a:p>
        </p:txBody>
      </p:sp>
    </p:spTree>
  </p:cSld>
  <p:clrMapOvr>
    <a:masterClrMapping/>
  </p:clrMapOvr>
</p:sld>
</file>

<file path=ppt/slides/slide4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Hitting Resource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API throttling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Symptom: HTTP 429 Too Many Requests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Cause: burst of calls exceeds rate limit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Fix: exponential backoff + jitter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Fix: cache responses, batch requests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Service quotas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Symptom: LimitExceeded on create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Cause: account/region hard cap reached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Fix: request a quota increase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Fix: clean up unused resources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Oversubscription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Symptom: high CPU steal, jitter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Cause: too many VMs per physical host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Fix: dedicated hosts / larger types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Fix: spread across AZs or hosts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487</a:t>
            </a:r>
          </a:p>
        </p:txBody>
      </p:sp>
    </p:spTree>
  </p:cSld>
  <p:clrMapOvr>
    <a:masterClrMapping/>
  </p:clrMapOvr>
</p:sld>
</file>

<file path=ppt/slides/slide4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Deployment Symptom -&gt; Cause -&gt; 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Symptom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Likely cause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First 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6601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6601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OOMKilled / exit 137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6601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6601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Memory allocation too small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6601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6601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Raise limit or fix the leak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0322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0322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403 AccessDenied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0322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0322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Missing IAM permission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0322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0322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Add least-privilege policy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4043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4043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429 TooManyRequests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4043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4043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API throttling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4043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4043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Backoff + jitter, then retry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7764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7764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LimitExceeded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7764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7764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Service quota reached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7764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7764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Request quota increase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1485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1485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InvalidParameter on old call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1485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1485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Deprecated API version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1485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1485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Upgrade SDK / API version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05206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05206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Type unavailable in region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05206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05206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Regional service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05206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05206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Pick supported region or type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58927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558927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Slow VM, high steal 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42202" y="558927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0218" y="558927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Host oversubscription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7" y="558927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3" y="558927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Move to dedicated capacity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488</a:t>
            </a:r>
          </a:p>
        </p:txBody>
      </p:sp>
    </p:spTree>
  </p:cSld>
  <p:clrMapOvr>
    <a:masterClrMapping/>
  </p:clrMapOvr>
</p:sld>
</file>

<file path=ppt/slides/slide4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Failed Deployment: a Decision Tree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Read the error message and deployment logs FIRST - it usually names the cause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4xx error? -&gt; check permissions (403), quotas/limits (429), bad parameters (400)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5xx or timeout? -&gt; check provider status page for an outage in your region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Works elsewhere? -&gt; compare regions: feature and type availability differ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Still stuck? -&gt; reproduce with CLI + --debug, then escalate with evidence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489</a:t>
            </a:r>
          </a:p>
        </p:txBody>
      </p:sp>
    </p:spTree>
  </p:cSld>
  <p:clrMapOvr>
    <a:masterClrMapping/>
  </p:clrMapOvr>
</p:sld>
</file>

<file path=ppt/slides/slide4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Full vs Partial Outage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Full outage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Partial outage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Entire service or region down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every call fails, all AZs affected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Little you can do locally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fail over to another region (DR plan)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Communicate and track provider 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One AZ, one feature or one API degraded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intermittent errors, elevated latency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Harder to detect - looks like YOUR bug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compare AZs; drain traffic from the sick one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Health checks + multi-AZ design mask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490</a:t>
            </a:r>
          </a:p>
        </p:txBody>
      </p:sp>
    </p:spTree>
  </p:cSld>
  <p:clrMapOvr>
    <a:masterClrMapping/>
  </p:clrMapOvr>
</p:sld>
</file>

<file path=ppt/slides/slide4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Outdated &amp; Deprecated 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Stale machine images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Old AMIs miss patches and agents; rebuild images on a schedule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Pinned-too-loose IaC modules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Unpinned Terraform modules/providers pull breaking changes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Retired API versions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Providers sunset APIs (metadata v1 -&gt; v2); calls start 4xx-ing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EOL runtimes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Lambda/App Service drop old Python/Node versions - deploys blocked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Deprecated instance types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Old families disappear from new regions and reservations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Signal to watch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Deprecation emails + changelogs; treat warnings as future outages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491</a:t>
            </a:r>
          </a:p>
        </p:txBody>
      </p:sp>
    </p:spTree>
  </p:cSld>
  <p:clrMapOvr>
    <a:masterClrMapping/>
  </p:clrMapOvr>
</p:sld>
</file>

<file path=ppt/slides/slide4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33 - Troubleshoot Deployment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Runs on the free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Killercoda Ubuntu playground - no cloud account needed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Reproduce an OOM kill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from under-sized memory, then right-size the container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Break a service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read-only filesystem (permission issue) and fix it with volumes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Oversubscribe CPU and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watch contention with docker stats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Simulate API throttling (429)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and implement retry with backoff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Map every failure back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to objective 6.1 language for the exam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492</a:t>
            </a:r>
          </a:p>
        </p:txBody>
      </p:sp>
    </p:spTree>
  </p:cSld>
  <p:clrMapOvr>
    <a:masterClrMapping/>
  </p:clrMapOvr>
</p:sld>
</file>

<file path=ppt/slides/slide4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Verify and Document - the Forgotten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Verify fully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Test end-to-end, not one endpoint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Confirm with the user who reported 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Watch dashboards through one cycle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Implement preventive measures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Document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Root cause, fix, and evidence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Update runbooks and diagrams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Blameless post-incident review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Feeds the next on-call engineer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Exam angle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Know the SIX steps in order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Theory not confirmed? escalate OR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  establish a new theory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Documentation is always LAST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493</a:t>
            </a:r>
          </a:p>
        </p:txBody>
      </p:sp>
    </p:spTree>
  </p:cSld>
  <p:clrMapOvr>
    <a:masterClrMapping/>
  </p:clrMapOvr>
</p:sld>
</file>

<file path=ppt/slides/slide4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Identify, theorise, test, plan, implement, verify, document - in that order.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On the exam, the next step is always the next stage of the method: never implement before you have tested a theory and planned for side effects.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494</a:t>
            </a:r>
          </a:p>
        </p:txBody>
      </p:sp>
    </p:spTree>
  </p:cSld>
  <p:clrMapOvr>
    <a:masterClrMapping/>
  </p:clrMapOvr>
</p:sld>
</file>

<file path=ppt/slides/slide4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6 · TOPIC 6.2 · EXAM WEIGHT 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Troubleshooting Network Connectivity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Climb the stack L2 to L7 with ping, dig, mtr, ss and tcpdump - DNS, routing, NAT, VLANs and HTTP status codes.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6.2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495</a:t>
            </a:r>
          </a:p>
        </p:txBody>
      </p:sp>
    </p:spTree>
  </p:cSld>
  <p:clrMapOvr>
    <a:masterClrMapping/>
  </p:clrMapOvr>
</p:sld>
</file>

<file path=ppt/slides/slide4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L2-to-L7 Diagnostic Ladder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Link / L2: is the interface up? ip link - carrier, VLAN tag correct?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IP / L3: right address, mask, gateway? ip addr + ping the gateway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Routing: can you reach beyond the subnet? ip route, traceroute / mtr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Name resolution: does DNS answer? dig / nslookup against the right server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Transport / L4: is the port open and listening? ss -tlnp, nc -zv host 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Application / L7: what does the service say? curl -v and the HTTP status code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496</a:t>
            </a:r>
          </a:p>
        </p:txBody>
      </p:sp>
    </p:spTree>
  </p:cSld>
  <p:clrMapOvr>
    <a:masterClrMapping/>
  </p:clrMapOvr>
</p:sld>
</file>

<file path=ppt/slides/slide4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Six Tools You Must Know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Reachability + round-trip time; loss and latency at a glance (ICMP)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traceroute / mtr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Hop-by-hop path; mtr adds continuous per-hop loss statistics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dig / nslookup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Query DNS directly; see answers, NXDOMAIN, SERVFAIL and which server replied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ss (netstat)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What is listening, what is connected; ss -tlnp maps ports to processes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tcpdump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Capture packets on the wire - the ground truth when logs disagree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curl -v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Full L7 conversation: TLS handshake, headers and the status code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497</a:t>
            </a:r>
          </a:p>
        </p:txBody>
      </p:sp>
    </p:spTree>
  </p:cSld>
  <p:clrMapOvr>
    <a:masterClrMapping/>
  </p:clrMapOvr>
</p:sld>
</file>

<file path=ppt/slides/slide4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Which Tool Answers Which Question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Tool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Layer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Is the host reachable at all?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Where does the path break?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traceroute / mtr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Does the name resolve?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dig +short / nslookup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Is the port open / listening?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ss -tlnp / nc -zv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What is actually on the wire?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tcpdump -i any port 443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L2-L7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What does the app respond?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 -v / status code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498</a:t>
            </a:r>
          </a:p>
        </p:txBody>
      </p:sp>
    </p:spTree>
  </p:cSld>
  <p:clrMapOvr>
    <a:masterClrMapping/>
  </p:clrMapOvr>
</p:sld>
</file>

<file path=ppt/slides/slide5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DNS Failures Decoded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NXDOMAIN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Name does not exist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Typo, missing record, wrong zone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Check the record at the authority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dig @ns1.example.com host.example.com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21D2E"/>
                </a:solidFill>
                <a:latin typeface="Arial"/>
              </a:rPr>
              <a:t>SERVFAIL / timeout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Resolver cannot answer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Dead resolver IP, DNSSEC failure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Blocked port 53 (UDP/TCP)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Try dig @1.1.1.1 to isolate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Wrong / stale answer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Old cached record after a change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TTL not expired yet, split-horizon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Lower TTL before migrations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Flush caches; verify with dig +trace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499</a:t>
            </a:r>
          </a:p>
        </p:txBody>
      </p:sp>
    </p:spTree>
  </p:cSld>
  <p:clrMapOvr>
    <a:masterClrMapping/>
  </p:clrMapOvr>
</p:sld>
</file>

<file path=ppt/slides/slide5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Latency vs Bandwidth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Latency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Bandwidth problem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Delay per packet (ms)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high RTT in ping / mtr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Hurts chat, VoIP, DB round trips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Fix: closer region, CDN, fewer round trips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More bandwidth does NOT fix latency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Volume per second (Mbps)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slow transfers, saturated links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Hurts backups, video, bulk copies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Fix: bigger pipe, compression, QoS, schedule off-peak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iperf3 measures it; ping cannot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500</a:t>
            </a:r>
          </a:p>
        </p:txBody>
      </p:sp>
    </p:spTree>
  </p:cSld>
  <p:clrMapOvr>
    <a:masterClrMapping/>
  </p:clrMapOvr>
</p:sld>
</file>

<file path=ppt/slides/slide5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Routing &amp; NAT Problems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Missing route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Packets stop at the last known hop; add route / fix route 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Misconfigured route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Traffic takes the wrong path or loops; traceroute shows the detour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Wrong default gateway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Subnet-local works, everything beyond fails - classic exam clue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NAT missing / broken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Private IPs cannot reach the internet; check NAT gateway / MASQUERADE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Asymmetric routing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Replies return by a different path; stateful firewalls drop them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MTU / MSS mismatch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Small packets pass, large ones hang - VPN and overlay classic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501</a:t>
            </a:r>
          </a:p>
        </p:txBody>
      </p:sp>
    </p:spTree>
  </p:cSld>
  <p:clrMapOvr>
    <a:masterClrMapping/>
  </p:clrMapOvr>
</p:sld>
</file>

<file path=ppt/slides/slide5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IP Overlap &amp; VLAN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IP addressing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VLAN / switching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Network overlap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two VPCs/sites share 10.0.0.0/16 - peering and VPNs break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Fix: re-IP one side or NAT between them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Duplicate IP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intermittent connectivity, ARP flapping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Plan CIDR blocks centrally (IPAM)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Misconfigured VLAN tag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host tags VLAN 10, switch expects 20 - silent drop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Access vs trunk ports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access: one untagged VLAN; trunk: many tagged (802.1Q)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Same VLAN, different subnet? still broken at L3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502</a:t>
            </a:r>
          </a:p>
        </p:txBody>
      </p:sp>
    </p:spTree>
  </p:cSld>
  <p:clrMapOvr>
    <a:masterClrMapping/>
  </p:clrMapOvr>
</p:sld>
</file>

<file path=ppt/slides/slide5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HTTP Status-Code Triage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Code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Meaning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Where to look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6601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6601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401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6601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6601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Not authenticated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6601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6601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Token/key missing or expired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0322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0322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403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0322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0322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Authenticated, not allowed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0322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0322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IAM policy, WAF rule, ACL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4043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4043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404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4043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4043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Resource not found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4043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4043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URL, route, deleted object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7764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7764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429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7764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7764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Too many requests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7764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7764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Rate limit - back off + retry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1485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1485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500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1485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1485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Server crashed handling 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1485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1485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 logs, recent deploy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05206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05206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502 / 504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05206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05206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Bad gateway / timeout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05206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05206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Backend down or too slow behind LB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58927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558927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503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42202" y="558927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0218" y="558927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Service unavailable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7" y="558927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3" y="558927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 healthy targets, maintenance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503</a:t>
            </a:r>
          </a:p>
        </p:txBody>
      </p:sp>
    </p:spTree>
  </p:cSld>
  <p:clrMapOvr>
    <a:masterClrMapping/>
  </p:clrMapOvr>
</p:sld>
</file>

<file path=ppt/slides/slide5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Reading Packet Captures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Capture narrowly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tcpdump -i any host X and port 443 -w out.pcap - filter or drown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SYN with no SYN-ACK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Firewall or security group silently dropping - nothing came back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RST after SYN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Port actively closed - service not listening on that 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Retransmissions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Packet loss or MTU black hole along the path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Free web analysis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PCAP Analyzer: alfredang.github.io/pcapanalyzer - drop in a .pcap, get a triage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Wireshark equivalence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Same skills apply; know follow-TCP-stream and expert info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504</a:t>
            </a:r>
          </a:p>
        </p:txBody>
      </p:sp>
    </p:spTree>
  </p:cSld>
  <p:clrMapOvr>
    <a:masterClrMapping/>
  </p:clrMapOvr>
</p:sld>
</file>

<file path=ppt/slides/slide5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NETWORK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No HTTP Response - Walk the Path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curl -v https://app.example.com - where exactly does it stop?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Name resolves? dig app.example.com - if not, it is a DNS problem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TCP connects? nc -zv host 443 - if not: routing, firewall or dead service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TLS completes? openssl s_client - cert expired or protocol mismatch shows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HTTP answers? read the status code: 4xx = client/config, 5xx = server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505</a:t>
            </a:r>
          </a:p>
        </p:txBody>
      </p:sp>
    </p:spTree>
  </p:cSld>
  <p:clrMapOvr>
    <a:masterClrMapping/>
  </p:clrMapOvr>
</p:sld>
</file>

<file path=ppt/slides/slide5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34 - Troubleshoot Cloud Network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 Killercoda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break DNS with a dead resolver, prove it with nslookup, then fix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Build a network namespace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with no NAT, watch pings die, add MASQUERADE to fix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Inject latency and packet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loss with tc netem and measure the difference with mtr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Capture the failure with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tcpdump and inspect the .pcap in the free PCAP Analyzer web tool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Reproduce every HTTP status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class against a local web server with curl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506</a:t>
            </a:r>
          </a:p>
        </p:txBody>
      </p:sp>
    </p:spTree>
  </p:cSld>
  <p:clrMapOvr>
    <a:masterClrMapping/>
  </p:clrMapOvr>
</p:sld>
</file>

<file path=ppt/slides/slide5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Climb the ladder: link, IP, route, DNS, port, application - one layer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Exam scenarios hide the layer in the symptom: gateway wrong = only remote fails; DNS wrong = ping by IP works; 4xx = your side, 5xx = their side.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507</a:t>
            </a:r>
          </a:p>
        </p:txBody>
      </p:sp>
    </p:spTree>
  </p:cSld>
  <p:clrMapOvr>
    <a:masterClrMapping/>
  </p:clrMapOvr>
</p:sld>
</file>

<file path=ppt/slides/slide5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6 · TOPIC 6.3 · EXAM WEIGHT 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Troubleshooting Security Incidents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Leaked credentials, privilege escalation, brute force, dying certificates and deprecated ciphers - detect, contain, recover.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6.3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508</a:t>
            </a:r>
          </a:p>
        </p:txBody>
      </p:sp>
    </p:spTree>
  </p:cSld>
  <p:clrMapOvr>
    <a:masterClrMapping/>
  </p:clrMapOvr>
</p:sld>
</file>

<file path=ppt/slides/slide5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Security Incidents on the Exam (Obj 6.3)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Leaked credentials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Keys or passwords exposed in code, logs or paste sites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Privilege escalation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user or process gains rights it should not have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Unauthorized access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Logins from unknown IPs, impossible travel, brute force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Certificate failures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Expired, wrong-name or broken-chain certs stop TLS cold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Cipher suite deprecations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Old TLS versions and weak ciphers rejected by modern clients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Unauthorized / vulnerable software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Shadow installs and unpatched CVEs widen the attack surface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509</a:t>
            </a:r>
          </a:p>
        </p:txBody>
      </p:sp>
    </p:spTree>
  </p:cSld>
  <p:clrMapOvr>
    <a:masterClrMapping/>
  </p:clrMapOvr>
</p:sld>
</file>

<file path=ppt/slides/slide5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Incident Response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Detect and identify - alert fires, anomaly spotted, scope the incident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Contain - isolate hosts, revoke credentials, block the source; stop the bleeding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Eradicate - remove the cause: rotate secrets, patch, delete backdoors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Recover - restore service from known-good state; watch for re-entry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Lessons learned - blameless review, fix the control gap, update runbooks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510</a:t>
            </a:r>
          </a:p>
        </p:txBody>
      </p:sp>
    </p:spTree>
  </p:cSld>
  <p:clrMapOvr>
    <a:masterClrMapping/>
  </p:clrMapOvr>
</p:sld>
</file>

<file path=ppt/slides/slide5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Leaked Credentials: Detect - Contain - Prevent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21D2E"/>
                </a:solidFill>
                <a:latin typeface="Arial"/>
              </a:rPr>
              <a:t>Detect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gitleaks scans repos + history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Provider alerts (AWS exposed-key)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Unusual API calls in audit logs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Secret scanning on every push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Contain + eradicate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Revoke / rotate the key NOW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Audit what the key touched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Purge from git history (filter-repo)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Assume copied the moment pushed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Prevent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Secrets manager, never in code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Pre-commit hooks run gitleaks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Short-lived tokens over static keys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Least privilege limits blast radius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511</a:t>
            </a:r>
          </a:p>
        </p:txBody>
      </p:sp>
    </p:spTree>
  </p:cSld>
  <p:clrMapOvr>
    <a:masterClrMapping/>
  </p:clrMapOvr>
</p:sld>
</file>

<file path=ppt/slides/slide5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Privilege Escalation: Hunting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auditd watches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auditctl -w /etc/sudoers -p wa; ausearch shows who changed what, when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SUID binary hunt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find / -perm -4000 - unexpected SUID files are escalation ladders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Sudoers drift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New NOPASSWD or wildcard entries = instant root paths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New admin accounts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Review /etc/passwd, group membership and cloud IAM admin roles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Cloud-side signals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CloudTrail / Azure Activity Log: role assumptions, policy edits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Baseline beats guessing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Diff against a known-good inventory - anomalies pop out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512</a:t>
            </a:r>
          </a:p>
        </p:txBody>
      </p:sp>
    </p:spTree>
  </p:cSld>
  <p:clrMapOvr>
    <a:masterClrMapping/>
  </p:clrMapOvr>
</p:sld>
</file>

<file path=ppt/slides/slide5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Unauthorized Access &amp; Brute Force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Spot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Stop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Auth log bursts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hundreds of Failed password lines in /var/log/auth.log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Impossible travel / odd hours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Lockouts spiking across accounts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Success right after many failures = breach signal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fail2ban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bans source IPs after N failures - watch it work in Lab 35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Key-based SSH, disable passwords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MFA everywhere; conditional access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Rate-limit and geo-fence exposed endpoints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513</a:t>
            </a:r>
          </a:p>
        </p:txBody>
      </p:sp>
    </p:spTree>
  </p:cSld>
  <p:clrMapOvr>
    <a:masterClrMapping/>
  </p:clrMapOvr>
</p:sld>
</file>

<file path=ppt/slides/slide5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Certificate Failures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Failure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Symptom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Expired cert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certificate has expired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Renew; automate (ACME)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Name mismatch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hostname mismatch error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Reissue with right CN/SAN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Incomplete chain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unable to verify issuer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Serve full chain (intermediates)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Self-signed in prod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untrusted issuer warning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Use a real CA / internal PKI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Clock skew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cert not yet valid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Fix NTP - see topic 6.4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Revoked cert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revocation check fails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Reissue; investigate why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514</a:t>
            </a:r>
          </a:p>
        </p:txBody>
      </p:sp>
    </p:spTree>
  </p:cSld>
  <p:clrMapOvr>
    <a:masterClrMapping/>
  </p:clrMapOvr>
</p:sld>
</file>

<file path=ppt/slides/slide5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Deprecated TLS &amp; Ciphers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Dead protocols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SSLv3, TLS 1.0, TLS 1.1 are deprecated - require TLS 1.2+, prefer 1.3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Weak ciphers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RC4, DES/3DES, EXPORT, CBC with SHA1 - replace with AES-GCM, ChaCha20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Symptom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Modern client fails handshake: protocol version or no shared cipher alert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 the server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nmap --script ssl-enum-ciphers -p 443, or openssl s_client -tls1_2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Fix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Update TLS policy on the LB / server config; retest before and after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Cloud shortcut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Managed LBs expose named TLS security policies - pick a modern 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515</a:t>
            </a:r>
          </a:p>
        </p:txBody>
      </p:sp>
    </p:spTree>
  </p:cSld>
  <p:clrMapOvr>
    <a:masterClrMapping/>
  </p:clrMapOvr>
</p:sld>
</file>

<file path=ppt/slides/slide5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Vulnerable &amp; Unauthorized Software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Find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trivy / Grype scan images + hosts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SBOM tells you what is inside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Compare installs vs approved list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Judge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CVSS severity + exposure = priority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Internet-facing criticals first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Exploit available? patch today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Fix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Patch or rebuild the image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Remove shadow-IT packages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Allowlisting stops re-installs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516</a:t>
            </a:r>
          </a:p>
        </p:txBody>
      </p:sp>
    </p:spTree>
  </p:cSld>
  <p:clrMapOvr>
    <a:masterClrMapping/>
  </p:clrMapOvr>
</p:sld>
</file>

<file path=ppt/slides/slide5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Leaked Key: the First Hour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Revoke or deactivate the exposed key immediately - before investigating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Issue a replacement and update the ONE place it now lives (secrets manager)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Audit provider logs: what did the key do since exposure? any new users or keys?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Purge the secret from git history and caches; force-push cleaned history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Post-incident: add gitleaks pre-commit + CI scanning so it cannot recur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517</a:t>
            </a:r>
          </a:p>
        </p:txBody>
      </p:sp>
    </p:spTree>
  </p:cSld>
  <p:clrMapOvr>
    <a:masterClrMapping/>
  </p:clrMapOvr>
</p:sld>
</file>

<file path=ppt/slides/slide5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 35 - TLS, Cipher &amp; Auth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On Killercoda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stand up a TLS-1.0-only server, watch modern clients refuse it, then harden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Hunt SUID binaries and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watch /etc/sudoers with auditd - privilege escalation forensics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Plant a fake AWS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key in a repo, catch it with gitleaks, rotate and purge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Brute-force SSH locally and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watch fail2ban ban the attacker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Drill the attack-defence loop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in the free web tool: alfredang.github.io/cybersecuritysimulator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518</a:t>
            </a:r>
          </a:p>
        </p:txBody>
      </p:sp>
    </p:spTree>
  </p:cSld>
  <p:clrMapOvr>
    <a:masterClrMapping/>
  </p:clrMapOvr>
</p:sld>
</file>

<file path=ppt/slides/slide5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Security Tool Cheat Sheet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gitleaks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Scans code and git history for secrets - run pre-commit and in 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auditd / ausearch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Kernel audit trail - who touched sudoers, passwd, key files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fail2ban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Reads auth logs, bans brute-force sources at the firewall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openssl s_client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Handshake debugger - shows protocol, cipher and the cert chain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nmap ssl-enum-ciphers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Enumerates every protocol + cipher a server still accepts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trivy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CVE scanner for images, filesystems and IaC - fails the build on criticals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519</a:t>
            </a:r>
          </a:p>
        </p:txBody>
      </p:sp>
    </p:spTree>
  </p:cSld>
  <p:clrMapOvr>
    <a:masterClrMapping/>
  </p:clrMapOvr>
</p:sld>
</file>

<file path=ppt/slides/slide5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Contain first, investigate second: revoke the credential before you ask how it leaked.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A secret that reached a public repo is compromised, full stop - rotate it, audit what it touched, purge the history and add scanning so it never recurs.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520</a:t>
            </a:r>
          </a:p>
        </p:txBody>
      </p:sp>
    </p:spTree>
  </p:cSld>
  <p:clrMapOvr>
    <a:masterClrMapping/>
  </p:clrMapOvr>
</p:sld>
</file>

<file path=ppt/slides/slide5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6 · TOPIC 6.4 · EXAM WEIGHT 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Troubleshooting Service Disruptions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When DNS, DHCP or NTP wobble, everything above them falls over - plus dependency chains, cascading failures and graceful degradation.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6.4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521</a:t>
            </a:r>
          </a:p>
        </p:txBody>
      </p:sp>
    </p:spTree>
  </p:cSld>
  <p:clrMapOvr>
    <a:masterClrMapping/>
  </p:clrMapOvr>
</p:sld>
</file>

<file path=ppt/slides/slide5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Services Everything Depends 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connection starts with a lookup - DNS down looks like EVERYTHING down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DHCP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No lease = no address = no network; watch for 169.254.x.x self-assigned 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NTP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Wrong time silently breaks TLS, Kerberos, MFA and log correlation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Identity / SSO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IdP outage locks every federated app at once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Certificates / PKI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expired wildcard can take down a whole product line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Upstream APIs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Third-party dependency fails - your app inherits the outage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522</a:t>
            </a:r>
          </a:p>
        </p:txBody>
      </p:sp>
    </p:spTree>
  </p:cSld>
  <p:clrMapOvr>
    <a:masterClrMapping/>
  </p:clrMapOvr>
</p:sld>
</file>

<file path=ppt/slides/slide5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DNS Outage: Symptoms - Diagnosis - 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21D2E"/>
                </a:solidFill>
                <a:latin typeface="Arial"/>
              </a:rPr>
              <a:t>Symptoms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Apps fail by NAME, work by IP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could not resolve host errors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Everything broke at once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Timeouts, not refusals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Diagnosis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dig @your-resolver example.com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dig @1.1.1.1 - resolver or zone?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Check resolver service + port 53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Check the zone at the authority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Fixes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Restart / fail over the resolver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Secondary resolver in configs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 the broken zone record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Sane TTLs so caches can carry you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523</a:t>
            </a:r>
          </a:p>
        </p:txBody>
      </p:sp>
    </p:spTree>
  </p:cSld>
  <p:clrMapOvr>
    <a:masterClrMapping/>
  </p:clrMapOvr>
</p:sld>
</file>

<file path=ppt/slides/slide5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DHCP Scope Exhaustion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Symptoms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Fixes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New devices get no address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existing leases keep working - misleading!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Clients self-assign 169.254.x.x (APIPA)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Scope shows 100% leased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Worst on guest Wi-Fi and VDI bursts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Shorten lease time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8h instead of 8 days on transient networks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Expand the scope / add a subnet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Clear stale and abandoned leases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Reserve static ranges OUTSIDE the pool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524</a:t>
            </a:r>
          </a:p>
        </p:txBody>
      </p:sp>
    </p:spTree>
  </p:cSld>
  <p:clrMapOvr>
    <a:masterClrMapping/>
  </p:clrMapOvr>
</p:sld>
</file>

<file path=ppt/slides/slide5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Time Skew Breaks More Than Clocks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Kerberos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Tickets tolerate ~5 minutes of skew - beyond that, domain auth fails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TLS certificates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Skewed clock lands outside validity: not yet valid / expired errors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MFA / TOTP codes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Time-based codes drift out of the window - every login rejected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Log correlation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Events sort in the wrong order across hosts - forensics impossible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Scheduled jobs &amp; tokens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Cron fires at odd times; signed URLs and JWTs judged expired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Distributed systems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Leases, locks and consensus protocols misbehave subtly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525</a:t>
            </a:r>
          </a:p>
        </p:txBody>
      </p:sp>
    </p:spTree>
  </p:cSld>
  <p:clrMapOvr>
    <a:masterClrMapping/>
  </p:clrMapOvr>
</p:sld>
</file>

<file path=ppt/slides/slide5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Diagnosing Time Skew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Compare: date on the suspect host vs a known-good reference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chronyc tracking - how far off, and is chrony actually synchronised?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chronyc sources - are the configured NTP servers reachable and sane?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Fix the source: open UDP 123, point at valid servers, restart chronyd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Verify skew closes, then retest whatever broke (TLS, Kerberos, MFA)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526</a:t>
            </a:r>
          </a:p>
        </p:txBody>
      </p:sp>
    </p:spTree>
  </p:cSld>
  <p:clrMapOvr>
    <a:masterClrMapping/>
  </p:clrMapOvr>
</p:sld>
</file>

<file path=ppt/slides/slide5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Core-Service Triage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Service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Classic symptom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First command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Name fails, IP works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dig example.com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DHCP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169.254.x.x address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check scope utilisation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NTP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TLS/Kerberos/MFA all odd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chronyc tracking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NAT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Private hosts lose internet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check NAT GW / conntrack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Identity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All SSO apps reject logins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IdP status + token expiry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Certificates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Browser warnings everywhere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openssl x509 -enddate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527</a:t>
            </a:r>
          </a:p>
        </p:txBody>
      </p:sp>
    </p:spTree>
  </p:cSld>
  <p:clrMapOvr>
    <a:masterClrMapping/>
  </p:clrMapOvr>
</p:sld>
</file>

<file path=ppt/slides/slide5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Dependency &amp; Cascading Failures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Dependency failure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 service YOU rely on degrades - your errors are inherited, not local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Retry storm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Every client retries at once, multiplying load on the sick service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Thread-pool exhaustion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Slow dependency ties up workers until the caller dies too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Thundering herd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Cache expires or service restarts - all traffic slams the origin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Cascade anatomy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One slow backend can topple a whole chain of healthy services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Map your dependencies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You cannot triage what you have not diagrammed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528</a:t>
            </a:r>
          </a:p>
        </p:txBody>
      </p:sp>
    </p:spTree>
  </p:cSld>
  <p:clrMapOvr>
    <a:masterClrMapping/>
  </p:clrMapOvr>
</p:sld>
</file>

<file path=ppt/slides/slide5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Anatomy of a Cascading Failure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5900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5900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One dependency slows down (not even down - just slow)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53996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01468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01468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8323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8323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7772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Callers wait; their worker threads and connections pile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822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25696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25696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07458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7458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Queues grow, memory climbs, health checks start failing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9924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49924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3168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3168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96228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Load balancer pulls failing nodes - survivors get MORE traffic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8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74152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74152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45591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5591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0456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Total outage - triggered by one slow downstream call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0908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98380" y="2331720"/>
            <a:ext cx="1513332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898380" y="2331720"/>
            <a:ext cx="15133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280142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80142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4684" y="3749040"/>
            <a:ext cx="1220724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Break the chain: timeouts, circuit breakers, load shedding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529</a:t>
            </a:r>
          </a:p>
        </p:txBody>
      </p:sp>
    </p:spTree>
  </p:cSld>
  <p:clrMapOvr>
    <a:masterClrMapping/>
  </p:clrMapOvr>
</p:sld>
</file>

<file path=ppt/slides/slide5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Designing for Disruption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Health checks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LB probes remove sick targets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Check a REAL code path, not just /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Depth vs cost: keep probes cheap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Graceful degradation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Serve cached / partial results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Turn off non-core features first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Read-only beats fully down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7C3AED"/>
                </a:solidFill>
                <a:latin typeface="Arial"/>
              </a:rPr>
              <a:t>Circuit breakers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Stop calling a failing dependency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Fail fast, retry with backoff later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Prevents retry storms and cascades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530</a:t>
            </a:r>
          </a:p>
        </p:txBody>
      </p:sp>
    </p:spTree>
  </p:cSld>
  <p:clrMapOvr>
    <a:masterClrMapping/>
  </p:clrMapOvr>
</p:sld>
</file>

<file path=ppt/slides/slide5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DISRUPTIONS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Liveness vs Readiness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Liveness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Readiness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Is the process alive at all?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Fails -&gt; restart the container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Keep it dumb and cheap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checking dependencies here causes restart loops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Can it serve traffic RIGHT NOW?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Fails -&gt; remove from load balancing, no restart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May check caches, DB connectivity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protects users during warm-up and overload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531</a:t>
            </a:r>
          </a:p>
        </p:txBody>
      </p:sp>
    </p:spTree>
  </p:cSld>
  <p:clrMapOvr>
    <a:masterClrMapping/>
  </p:clrMapOvr>
</p:sld>
</file>

<file path=ppt/slides/slide5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Service Disruptions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169.254.x.x = DHCP failure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APIPA self-assignment is the giveaway answer for scope exhaustion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Name fails, IP works = DNS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single most reliable symptom mapping on the exam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Kerberos + 5 minutes = NTP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auth-plus-time scenario points at clock skew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Everything at once = shared dependency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DNS, identity or an expired wildcard cert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Slow is a failure mode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Cascades usually start with slow, not down - timeouts save you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34 covers this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DNS, NTP and NAT breakage are all reproduced on Killercoda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532</a:t>
            </a:r>
          </a:p>
        </p:txBody>
      </p:sp>
    </p:spTree>
  </p:cSld>
  <p:clrMapOvr>
    <a:masterClrMapping/>
  </p:clrMapOvr>
</p:sld>
</file>

<file path=ppt/slides/slide5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When everything breaks at once, suspect what everything shares: DNS, time, identity.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Shared-service failures masquerade as app failures. Check name resolution, clock sync and the IdP before touching a single application server.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533</a:t>
            </a:r>
          </a:p>
        </p:txBody>
      </p:sp>
    </p:spTree>
  </p:cSld>
  <p:clrMapOvr>
    <a:masterClrMapping/>
  </p:clrMapOvr>
</p:sld>
</file>

<file path=ppt/slides/slide5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DOMAIN 6 · TOPIC 6.5 · EXAM WEIGHT 12%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651760"/>
            <a:ext cx="103327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>
                <a:solidFill>
                  <a:srgbClr val="161B26"/>
                </a:solidFill>
                <a:latin typeface="Arial"/>
              </a:rPr>
              <a:t>Troubleshooting Misconfigurations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24128" y="3977639"/>
            <a:ext cx="201168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4251960"/>
            <a:ext cx="9875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Open buckets, wide-open security groups, IaC drift and the container failure hall of fame - plus the tools that catch them first.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548640"/>
            <a:ext cx="23774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6400" b="1">
                <a:solidFill>
                  <a:srgbClr val="E2E8F0"/>
                </a:solidFill>
                <a:latin typeface="Arial"/>
              </a:rPr>
              <a:t>6.5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534</a:t>
            </a:r>
          </a:p>
        </p:txBody>
      </p:sp>
    </p:spTree>
  </p:cSld>
  <p:clrMapOvr>
    <a:masterClrMapping/>
  </p:clrMapOvr>
</p:sld>
</file>

<file path=ppt/slides/slide5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MISCONFIG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Cloud Misconfiguration Hall of Fame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1989963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Public storage buckets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World-readable S3 / Blob containers - the classic breach headline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1989963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1989963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Wide-open security groups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0.0.0.0/0 on SSH/RDP/DB ports invites the whole internet 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46654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153537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Overly permissive IAM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Wildcard actions and admin-for-everyone defeat least privilege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2946654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2946654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153537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153537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056382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Default credentials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Shipped admin/admin logins left unchanged on appliances and apps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110228"/>
            <a:ext cx="91440" cy="94411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4317111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Wrong region / AZ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Resources deployed where latency, law or the rest of the stack is not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110228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110228"/>
            <a:ext cx="91440" cy="94411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4317111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4317111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219956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Tagging errors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Untagged resources break cost allocation, automation and cleanup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" y="5273802"/>
            <a:ext cx="91440" cy="94411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14984" y="5480685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14984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09928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IaC drift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Console edits diverge from Terraform state - next apply surprises you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31636" y="5273802"/>
            <a:ext cx="5180076" cy="94411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31636" y="5273802"/>
            <a:ext cx="91440" cy="94411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69380" y="5480685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69380" y="5480685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64324" y="5383530"/>
            <a:ext cx="4027932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161B26"/>
                </a:solidFill>
                <a:latin typeface="Arial"/>
              </a:rPr>
              <a:t>Unencrypted resources</a:t>
            </a:r>
          </a:p>
          <a:p>
            <a:pPr algn="l">
              <a:spcAft>
                <a:spcPts val="2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Buckets, volumes and snapshots created without encryption at rest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535</a:t>
            </a:r>
          </a:p>
        </p:txBody>
      </p:sp>
    </p:spTree>
  </p:cSld>
  <p:clrMapOvr>
    <a:masterClrMapping/>
  </p:clrMapOvr>
</p:sld>
</file>

<file path=ppt/slides/slide5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MISCONFIG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Public Bucket: Detect and Shut It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21D2E"/>
                </a:solidFill>
                <a:latin typeface="Arial"/>
              </a:rPr>
              <a:t>Symptom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Data reachable without auth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Scanner or researcher email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Odd egress traffic on the bucket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Detect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S3 Block Public Access audit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AWS Config / Azure Policy rules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CSPM flags it within minutes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Arial"/>
              </a:rPr>
              <a:t>Fix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Enable Block Public Access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Serve via CDN + signed URLs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Alert on future policy changes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536</a:t>
            </a:r>
          </a:p>
        </p:txBody>
      </p:sp>
    </p:spTree>
  </p:cSld>
  <p:clrMapOvr>
    <a:masterClrMapping/>
  </p:clrMapOvr>
</p:sld>
</file>

<file path=ppt/slides/slide5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MISCONFIG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Network vs Identity Permissiveness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1783080"/>
            <a:ext cx="5212080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1783080"/>
            <a:ext cx="50749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Security groups too open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IAM too broad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87168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0.0.0.0/0 inbound on 22/3389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brute-force traffic within minutes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DB ports exposed to the internet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Fix: allow only known CIDRs / SG-to-SG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Bastion or SSM instead of open SSH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487168"/>
            <a:ext cx="4617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00" b="0">
                <a:solidFill>
                  <a:srgbClr val="161B26"/>
                </a:solidFill>
                <a:latin typeface="Arial"/>
              </a:rPr>
              <a:t/>
            </a:r>
            <a:r>
              <a:rPr sz="1500" b="1">
                <a:solidFill>
                  <a:srgbClr val="161B26"/>
                </a:solidFill>
                <a:latin typeface="Arial"/>
              </a:rPr>
              <a:t>•  Action: * on Resource: *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–  any leaked key becomes a skeleton key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Unused permissions accumulate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Fix: least privilege, access analyzers</a:t>
            </a:r>
          </a:p>
          <a:p>
            <a:pPr>
              <a:spcAft>
                <a:spcPts val="700"/>
              </a:spcAft>
            </a:pPr>
            <a:r>
              <a:rPr sz="1500" b="1">
                <a:solidFill>
                  <a:srgbClr val="161B26"/>
                </a:solidFill>
                <a:latin typeface="Arial"/>
              </a:rPr>
              <a:t>•  Time-bound elevation, not standing admin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537</a:t>
            </a:r>
          </a:p>
        </p:txBody>
      </p:sp>
    </p:spTree>
  </p:cSld>
  <p:clrMapOvr>
    <a:masterClrMapping/>
  </p:clrMapOvr>
</p:sld>
</file>

<file path=ppt/slides/slide5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MISCONFIG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Misconfig -&gt; Detection -&gt; 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Misconfiguration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Detected by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3721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6601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6601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Public bucket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6601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6601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CSPM / AWS Config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6601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6601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Block public access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0322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0322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Open SSH to world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0322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0322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SG audit / tfsec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0322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0322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Restrict source CIDR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44043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44043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Wildcard IAM policy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44043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44043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Access Analyzer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44043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44043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Least-privilege rewrite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397764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397764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Default credentials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397764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397764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Vuln scan / login audit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397764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397764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Rotate + disable defaults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51485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51485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Wrong region deploy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51485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51485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Tag/inventory report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51485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51485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Redeploy to intended region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052060"/>
            <a:ext cx="2764962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05206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IaC drift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05206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05206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terraform plan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052060"/>
            <a:ext cx="3934755" cy="53721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05206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Reconcile code vs reality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7240" y="5589270"/>
            <a:ext cx="2764962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5256" y="5589270"/>
            <a:ext cx="2508930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Missing tags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42202" y="558927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70218" y="558927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Tag policy / SCP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76957" y="5589270"/>
            <a:ext cx="3934755" cy="53721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4973" y="5589270"/>
            <a:ext cx="3678723" cy="5372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Enforce tags at creation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538</a:t>
            </a:r>
          </a:p>
        </p:txBody>
      </p:sp>
    </p:spTree>
  </p:cSld>
  <p:clrMapOvr>
    <a:masterClrMapping/>
  </p:clrMapOvr>
</p:sld>
</file>

<file path=ppt/slides/slide5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MISCONFIG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IaC Drift &amp; Placement Errors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What drift is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Live infrastructure no longer matches the code that created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How it happens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Console hotfixes, script side effects, other teams editing shared infra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Detect 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terraform plan shows the diff; drift detection in cloud tooling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Fix 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Reapply code, or terraform import the manual change into state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Wrong region / AZ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Latency jumps, data-residency violations, cross-AZ transfer bills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Prevention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Lock console write access; ALL changes flow through the pipeline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539</a:t>
            </a:r>
          </a:p>
        </p:txBody>
      </p:sp>
    </p:spTree>
  </p:cSld>
  <p:clrMapOvr>
    <a:masterClrMapping/>
  </p:clrMapOvr>
</p:sld>
</file>

<file path=ppt/slides/slide5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Failure Triage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kubectl get pods - read STATUS and RESTARTS; that word is your first clue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kubectl describe pod - Events at the bottom name the failure cause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kubectl logs (--previous for the crashed attempt) - what did the app say?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Check limits and probes: OOM? failing liveness probe? bad image reference?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Fix the manifest, redeploy, and watch it reach Running and 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540</a:t>
            </a:r>
          </a:p>
        </p:txBody>
      </p:sp>
    </p:spTree>
  </p:cSld>
  <p:clrMapOvr>
    <a:masterClrMapping/>
  </p:clrMapOvr>
</p:sld>
</file>

<file path=ppt/slides/slide5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Container States Decoded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28800"/>
            <a:ext cx="2764962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05256" y="182880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State / signal</a:t>
            </a:r>
          </a:p>
        </p:txBody>
      </p:sp>
      <p:sp>
        <p:nvSpPr>
          <p:cNvPr id="9" name="Rectangle 8"/>
          <p:cNvSpPr/>
          <p:nvPr/>
        </p:nvSpPr>
        <p:spPr>
          <a:xfrm>
            <a:off x="3542202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70218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Meaning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76957" y="1828800"/>
            <a:ext cx="3934755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04973" y="182880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Arial"/>
              </a:rPr>
              <a:t>Usual fix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2395728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5256" y="239572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CrashLoopBackOff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42202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0218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Process keeps exiting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76957" y="2395728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4973" y="239572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Read logs; fix entrypoint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2962656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" y="2962656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OOMKilled / exit 137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42202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70218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Memory limit exceeded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6957" y="2962656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4973" y="2962656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Raise limit or fix leak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3529584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56" y="3529584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ImagePullBackOff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42202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70218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Cannot fetch image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76957" y="3529584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4973" y="3529584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Fix name/tag or pull secret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096512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5256" y="4096512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Pending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42202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70218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No node can fit it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76957" y="4096512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04973" y="4096512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Resize requests / add nodes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4663440"/>
            <a:ext cx="2764962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5256" y="4663440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DNS fails in pod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42202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70218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Cluster DNS broken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76957" y="4663440"/>
            <a:ext cx="3934755" cy="566928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04973" y="4663440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Check CoreDNS + resolv.conf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77240" y="5230368"/>
            <a:ext cx="2764962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5256" y="5230368"/>
            <a:ext cx="250893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61B26"/>
                </a:solidFill>
                <a:latin typeface="Arial"/>
              </a:rPr>
              <a:t>Read-only fs error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42202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0218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App writes to locked path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6957" y="5230368"/>
            <a:ext cx="3934755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04973" y="5230368"/>
            <a:ext cx="367872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Mount a writable volume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541</a:t>
            </a:r>
          </a:p>
        </p:txBody>
      </p:sp>
    </p:spTree>
  </p:cSld>
  <p:clrMapOvr>
    <a:masterClrMapping/>
  </p:clrMapOvr>
</p:sld>
</file>

<file path=ppt/slides/slide5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The Big Three Container Failures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3337560" cy="109728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21D2E"/>
                </a:solidFill>
                <a:latin typeface="Arial"/>
              </a:rPr>
              <a:t>CrashLoopBackOff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Container starts, exits, restarts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Bad command, missing env or dep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kubectl logs --previous is gold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Fix the app, not the restarts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1783080"/>
            <a:ext cx="3337560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59E0B"/>
                </a:solidFill>
                <a:latin typeface="Arial"/>
              </a:rPr>
              <a:t>OOMKilled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Exit code 137 = the smoking gun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Limit too low or memory leak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docker inspect shows OOMKilled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Right-size, then monitor usage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1783080"/>
            <a:ext cx="333756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366760" y="1783080"/>
            <a:ext cx="3337560" cy="1097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ImagePullBackOff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9260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Typo in image name or tag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Private registry needs auth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K8s: set imagePullSecrets</a:t>
            </a: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161B26"/>
                </a:solidFill>
                <a:latin typeface="Arial"/>
              </a:rPr>
              <a:t>•  docker login for local pulls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542</a:t>
            </a:r>
          </a:p>
        </p:txBody>
      </p:sp>
    </p:spTree>
  </p:cSld>
  <p:clrMapOvr>
    <a:masterClrMapping/>
  </p:clrMapOvr>
</p:sld>
</file>

<file path=ppt/slides/slide5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DNS &amp; Filesystem Inside Containers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Container DNS differs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Pods use cluster DNS (CoreDNS), not the host resolver - test inside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Service names are DNS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svc.namespace.svc.cluster.local - wrong namespace = NXDOMAIN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Read-only root fs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Hardened containers block writes; apps needing /tmp crash at start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Fix with mounts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tmpfs or volumes for writable paths - keep the root fs locked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Test like Lab 36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docker run --dns and --read-only reproduce both failures in seconds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Exam angle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Know WHICH state each symptom maps to - that is the whole question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543</a:t>
            </a:r>
          </a:p>
        </p:txBody>
      </p:sp>
    </p:spTree>
  </p:cSld>
  <p:clrMapOvr>
    <a:masterClrMapping/>
  </p:clrMapOvr>
</p:sld>
</file>

<file path=ppt/slides/slide5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MISCONFIG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Config Validation &amp; CSPM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AWS Config / Azure Policy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Continuously evaluate resources against rules; auto-remediate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Google Security Command Center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GCP-side posture findings: open buckets, weak IAM, vulns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CSPM platforms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Cross-cloud posture scoring - Defender for Cloud, Wiz, Prisma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tfsec / checkov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Scan IaC BEFORE apply - catch the open SG in the pull request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trivy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Images, filesystems and IaC misconfig in one scanner - CI-friendly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Shift left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Cheapest fix is the one blocked in review, not found in production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544</a:t>
            </a:r>
          </a:p>
        </p:txBody>
      </p:sp>
    </p:spTree>
  </p:cSld>
  <p:clrMapOvr>
    <a:masterClrMapping/>
  </p:clrMapOvr>
</p:sld>
</file>

<file path=ppt/slides/slide5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HANDS-ON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Labs 36 + 33 - Containers &amp;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36 on Killercoda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reproduces CrashLoopBackOff, OOMKilled, image-pull and DNS failures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You will read exit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codes and docker inspect output to name each failure precisely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Read-only filesystem errors are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fixed with tmpfs and volume mounts, not chmod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Lab 33 pairs with 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same resource-limit failures seen from the deployment side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Together they close the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loop on objectives 6.1 and the container half of 6.5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545</a:t>
            </a:r>
          </a:p>
        </p:txBody>
      </p:sp>
    </p:spTree>
  </p:cSld>
  <p:clrMapOvr>
    <a:masterClrMapping/>
  </p:clrMapOvr>
</p:sld>
</file>

<file path=ppt/slides/slide5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6 - EXAM TIPS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Exam Tips - Misconfigurations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Exit 137 = OOMKilled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Memorise the exit code; it appears in answer options verbatim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Pull failure = name or auth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ImagePullBackOff is always the image reference or credentials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0.0.0.0/0 = red flag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Any answer restricting source CIDR beats any answer opening 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Drift = terraform plan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tool that DETECTS drift is the code-vs-reality diff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Public bucket = block + audit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Fix access first, then investigate exposure window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Method still applies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Misconfig questions are the 6-step method wearing a costume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546</a:t>
            </a:r>
          </a:p>
        </p:txBody>
      </p:sp>
    </p:spTree>
  </p:cSld>
  <p:clrMapOvr>
    <a:masterClrMapping/>
  </p:clrMapOvr>
</p:sld>
</file>

<file path=ppt/slides/slide5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REMEMBER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Most cloud breaches are not exotic exploits - they are misconfigurations left open.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Validate configuration before deploy (tfsec, checkov), watch it after deploy (CSPM, AWS Config), and treat every console hotfix as drift to reconcile.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547</a:t>
            </a:r>
          </a:p>
        </p:txBody>
      </p:sp>
    </p:spTree>
  </p:cSld>
  <p:clrMapOvr>
    <a:masterClrMapping/>
  </p:clrMapOvr>
</p:sld>
</file>

<file path=ppt/slides/slide5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· TROUBLESHOOTING · LAB 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Troubleshoot Deployment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Reproduce and fix each CV0-004 6.1 deployment failure mode locally — resources, permissions, oversubscription, sizing, deprecation, quotas, regions.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Resource allocation / sizing failures cause OOM kills — size to peak load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Permission misconfiguration fixed by mounting writable tmpfs/volumes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Outdated/EoL definitions and deprecation are deployment risks — pin supported tags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API throttling returns HTTP 429 — fix with quota increase, backoff, batching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Setup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Resource allocation / sizing failure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Permission misconfiguration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Oversubscription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Outdated component definition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Deprecated functionality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Outage simulation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API throttling / service quota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Regional service availability</a:t>
            </a:r>
          </a:p>
        </p:txBody>
      </p:sp>
      <p:sp>
        <p:nvSpPr>
          <p:cNvPr id="51" name="Oval 50"/>
          <p:cNvSpPr/>
          <p:nvPr/>
        </p:nvSpPr>
        <p:spPr>
          <a:xfrm>
            <a:off x="6263640" y="546354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46354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29400" y="544525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Decision tree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08760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450592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curl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218688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218688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jq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813048" y="5870448"/>
            <a:ext cx="161391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813048" y="5870448"/>
            <a:ext cx="161391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region matrices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548</a:t>
            </a:r>
          </a:p>
        </p:txBody>
      </p:sp>
    </p:spTree>
  </p:cSld>
  <p:clrMapOvr>
    <a:masterClrMapping/>
  </p:clrMapOvr>
</p:sld>
</file>

<file path=ppt/slides/slide5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· TROUBLESHOOTING · LAB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Troubleshoot Cloud Network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Reproduce and resolve CV0-004 6.2 network failures using an L2→L7 diagnostic ladder (DHCP, DNS, NTP, NAT, HTTP codes, routing, IP overlap).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DNS and NTP break 'everything else' when they fail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NAT (MASQUERADE + ip_forward) enables outbound from private subnets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HTTP status codes localise the failure layer (4xx client, 5xx server, 429 rate-limit)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IP overlap needs NAT/re-IP; DHCP scope exhaustion needs a bigger subnet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diagnostics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DNS failure → fix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NTP / time skew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NAT failure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HTTP status-code triage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Latency / bandwidth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IP overlap &amp; scope exhaustion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Routing issues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VLAN / switching</a:t>
            </a:r>
          </a:p>
        </p:txBody>
      </p:sp>
      <p:sp>
        <p:nvSpPr>
          <p:cNvPr id="51" name="Oval 50"/>
          <p:cNvSpPr/>
          <p:nvPr/>
        </p:nvSpPr>
        <p:spPr>
          <a:xfrm>
            <a:off x="6263640" y="546354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46354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29400" y="544525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Decision tree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08760" y="5870448"/>
            <a:ext cx="135331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08760" y="5870448"/>
            <a:ext cx="13533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dig/nslookup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971800" y="5870448"/>
            <a:ext cx="4846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971800" y="5870448"/>
            <a:ext cx="4846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66160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66160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iptables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81728" y="5870448"/>
            <a:ext cx="57150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81728" y="5870448"/>
            <a:ext cx="5715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mtr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62956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362956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chrony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4788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4788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tcpdump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549</a:t>
            </a:r>
          </a:p>
        </p:txBody>
      </p:sp>
    </p:spTree>
  </p:cSld>
  <p:clrMapOvr>
    <a:masterClrMapping/>
  </p:clrMapOvr>
</p:sld>
</file>

<file path=ppt/slides/slide5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· TROUBLESHOOTING · LAB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Troubleshoot TLS, Cipher &amp; Auth Issues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Reproduce and fix CV0-004 6.3 security failures from the CLI — deprecated ciphers, privesc, unauthorized access, leaked credentials, vulnerabilities.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Disable deprecated TLS (SSLv3/TLS 1.0/1.1); require TLS 1.2+ with AEAD ciphers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Detect privilege escalation via auditd file watches and SUID hunting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Detect brute force in SSH logs (fail2ban); find leaked credentials with gitleaks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TLS handshake errors map to specific root causes (missing CA, cipher mismatch, expiry)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Install tools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Deprecated cipher / TLS version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Test a public site's ciphers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Privilege-escalation detection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Unauthorized access / brute force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Leaked credentials in source control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Software vulnerability &amp; unauthorized software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TLS handshake cheatsheet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Cleanup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508760" y="5870448"/>
            <a:ext cx="9189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openssl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37460" y="5870448"/>
            <a:ext cx="658368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37460" y="5870448"/>
            <a:ext cx="65836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nmap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305556" y="5870448"/>
            <a:ext cx="832104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05556" y="5870448"/>
            <a:ext cx="83210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auditd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247388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47388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fail2ban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362956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362956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gitleaks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78524" y="5870448"/>
            <a:ext cx="745236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78524" y="5870448"/>
            <a:ext cx="745236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Trivy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550</a:t>
            </a:r>
          </a:p>
        </p:txBody>
      </p:sp>
    </p:spTree>
  </p:cSld>
  <p:clrMapOvr>
    <a:masterClrMapping/>
  </p:clrMapOvr>
</p:sld>
</file>

<file path=ppt/slides/slide5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DOMAIN 6 · TROUBLESHOOTING · LAB 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Troubleshoot Container &amp; Resource Limits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91640"/>
            <a:ext cx="10634472" cy="658368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691640"/>
            <a:ext cx="91440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2412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GOAL   </a:t>
            </a:r>
            <a:r>
              <a:rPr sz="1250" b="0">
                <a:solidFill>
                  <a:srgbClr val="161B26"/>
                </a:solidFill>
                <a:latin typeface="Arial"/>
              </a:rPr>
              <a:t>Combine the Lab 33–35 methods to triage real container failures with a repeatable state → logs → stats → mounts → network workflow.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KEY CONCEPTS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852928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852928"/>
            <a:ext cx="82296" cy="58521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852928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CrashLoopBackOff = process exits immediately; fix the entrypoint so it stays up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547872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547872"/>
            <a:ext cx="82296" cy="58521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547872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OOMKilled is the smoking gun (OOMKilled=true); raise the limit or fix the leak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242816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42816"/>
            <a:ext cx="82296" cy="58521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242816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Image-pull failures come from wrong names or missing registry auth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37760"/>
            <a:ext cx="5257800" cy="58521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4937760"/>
            <a:ext cx="82296" cy="5852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937760"/>
            <a:ext cx="4983480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The daily five: OOM, CrashLoop, ImagePull, DNS, read-only-fs; triage in a fixed order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146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B981"/>
                </a:solidFill>
                <a:latin typeface="Arial"/>
              </a:rPr>
              <a:t>LAB STEPS</a:t>
            </a:r>
          </a:p>
        </p:txBody>
      </p:sp>
      <p:sp>
        <p:nvSpPr>
          <p:cNvPr id="24" name="Oval 23"/>
          <p:cNvSpPr/>
          <p:nvPr/>
        </p:nvSpPr>
        <p:spPr>
          <a:xfrm>
            <a:off x="6263640" y="287121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87121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285292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Setup</a:t>
            </a:r>
          </a:p>
        </p:txBody>
      </p:sp>
      <p:sp>
        <p:nvSpPr>
          <p:cNvPr id="27" name="Oval 26"/>
          <p:cNvSpPr/>
          <p:nvPr/>
        </p:nvSpPr>
        <p:spPr>
          <a:xfrm>
            <a:off x="6263640" y="315925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315925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314096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CrashLoopBackOff</a:t>
            </a:r>
          </a:p>
        </p:txBody>
      </p:sp>
      <p:sp>
        <p:nvSpPr>
          <p:cNvPr id="30" name="Oval 29"/>
          <p:cNvSpPr/>
          <p:nvPr/>
        </p:nvSpPr>
        <p:spPr>
          <a:xfrm>
            <a:off x="6263640" y="344728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344728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42900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OOMKilled</a:t>
            </a:r>
          </a:p>
        </p:txBody>
      </p:sp>
      <p:sp>
        <p:nvSpPr>
          <p:cNvPr id="33" name="Oval 32"/>
          <p:cNvSpPr/>
          <p:nvPr/>
        </p:nvSpPr>
        <p:spPr>
          <a:xfrm>
            <a:off x="6263640" y="373532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373532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371703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Image pull failure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402336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402336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00507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DNS inside containers</a:t>
            </a:r>
          </a:p>
        </p:txBody>
      </p:sp>
      <p:sp>
        <p:nvSpPr>
          <p:cNvPr id="39" name="Oval 38"/>
          <p:cNvSpPr/>
          <p:nvPr/>
        </p:nvSpPr>
        <p:spPr>
          <a:xfrm>
            <a:off x="6263640" y="4311396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431139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4293108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Read-only filesystem errors</a:t>
            </a:r>
          </a:p>
        </p:txBody>
      </p:sp>
      <p:sp>
        <p:nvSpPr>
          <p:cNvPr id="42" name="Oval 41"/>
          <p:cNvSpPr/>
          <p:nvPr/>
        </p:nvSpPr>
        <p:spPr>
          <a:xfrm>
            <a:off x="6263640" y="4599432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459943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4581144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Resource quota exhaustion</a:t>
            </a:r>
          </a:p>
        </p:txBody>
      </p:sp>
      <p:sp>
        <p:nvSpPr>
          <p:cNvPr id="45" name="Oval 44"/>
          <p:cNvSpPr/>
          <p:nvPr/>
        </p:nvSpPr>
        <p:spPr>
          <a:xfrm>
            <a:off x="6263640" y="4887468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4887468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9400" y="4869180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End-to-end triage script</a:t>
            </a:r>
          </a:p>
        </p:txBody>
      </p:sp>
      <p:sp>
        <p:nvSpPr>
          <p:cNvPr id="48" name="Oval 47"/>
          <p:cNvSpPr/>
          <p:nvPr/>
        </p:nvSpPr>
        <p:spPr>
          <a:xfrm>
            <a:off x="6263640" y="5175504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5175504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5157216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Master decision flow</a:t>
            </a:r>
          </a:p>
        </p:txBody>
      </p:sp>
      <p:sp>
        <p:nvSpPr>
          <p:cNvPr id="51" name="Oval 50"/>
          <p:cNvSpPr/>
          <p:nvPr/>
        </p:nvSpPr>
        <p:spPr>
          <a:xfrm>
            <a:off x="6263640" y="5463540"/>
            <a:ext cx="237744" cy="237744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5463540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29400" y="5445252"/>
            <a:ext cx="4800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161B26"/>
                </a:solidFill>
                <a:latin typeface="Arial"/>
              </a:rPr>
              <a:t>Closing summary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943600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0B981"/>
                </a:solidFill>
                <a:latin typeface="Arial"/>
              </a:rPr>
              <a:t>TOOLS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508760" y="5870448"/>
            <a:ext cx="2656332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508760" y="5870448"/>
            <a:ext cx="265633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docker (inspect/stats/logs)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74820" y="5870448"/>
            <a:ext cx="1874519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274820" y="5870448"/>
            <a:ext cx="187451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a triage.sh script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59067" y="5870448"/>
            <a:ext cx="1005840" cy="347472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59067" y="5870448"/>
            <a:ext cx="10058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161B26"/>
                </a:solidFill>
                <a:latin typeface="Arial"/>
              </a:rPr>
              <a:t>k9s/ctop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551</a:t>
            </a:r>
          </a:p>
        </p:txBody>
      </p:sp>
    </p:spTree>
  </p:cSld>
  <p:clrMapOvr>
    <a:masterClrMapping/>
  </p:clrMapOvr>
</p:sld>
</file>

<file path=ppt/slides/slide5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Course Summary &amp; 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552</a:t>
            </a:r>
          </a:p>
        </p:txBody>
      </p:sp>
    </p:spTree>
  </p:cSld>
  <p:clrMapOvr>
    <a:masterClrMapping/>
  </p:clrMapOvr>
</p:sld>
</file>

<file path=ppt/slides/slide5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LEARNING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What You Achieved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1 — Cloud Architecture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8 hands-on labs · 23% of the exam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2 — Deployment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7 hands-on labs · 19% of the exam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3 — Operations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6 hands-on labs · 17% of the exam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4 — Security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7 hands-on labs · 19% of the exam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5 — DevOps Fundamentals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4 hands-on labs · 10% of the exam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Domain 6 — Troubleshooting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4 hands-on labs · 12% of the exam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553</a:t>
            </a:r>
          </a:p>
        </p:txBody>
      </p:sp>
    </p:spTree>
  </p:cSld>
  <p:clrMapOvr>
    <a:masterClrMapping/>
  </p:clrMapOvr>
</p:sld>
</file>

<file path=ppt/slides/slide5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Courseware &amp; Assessment on the LMS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Download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Slides and Learner Guide from the LMS — you need them for the open-book assessment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Complete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The Written Assessment and the Practical Performance on assessment day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Submit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Upload your answers at lms-tms.tertiaryinfotech.com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Revise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Re-run any lab free on the Killercoda playground before the exam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554</a:t>
            </a:r>
          </a:p>
        </p:txBody>
      </p:sp>
    </p:spTree>
  </p:cSld>
  <p:clrMapOvr>
    <a:masterClrMapping/>
  </p:clrMapOvr>
</p:sld>
</file>

<file path=ppt/slides/slide5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EXAM READINESS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Preparing for the CV0-004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2107692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571750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Redo the labs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Practise until the commands are automatic; review each lab's 'What you learned'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210769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571750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571750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 the format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Up to 90 multiple-choice and performance-based questions in 90 minutes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110228"/>
            <a:ext cx="91440" cy="2107692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4898898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Know the bar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Passing score is 750 on a scale of 100–900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4110228"/>
            <a:ext cx="5180076" cy="2107692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4110228"/>
            <a:ext cx="91440" cy="21076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4898898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489889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4219956"/>
            <a:ext cx="4027932" cy="1924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Book it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Register through Pearson VUE once your practice scores are consistently strong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555</a:t>
            </a:r>
          </a:p>
        </p:txBody>
      </p:sp>
    </p:spTree>
  </p:cSld>
  <p:clrMapOvr>
    <a:masterClrMapping/>
  </p:clrMapOvr>
</p:sld>
</file>

<file path=ppt/slides/slide5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B981"/>
                </a:solidFill>
                <a:latin typeface="Arial"/>
              </a:rPr>
              <a:t>TEST YOURSELF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Practice Exam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10634472" cy="1920240"/>
          </a:xfrm>
          <a:prstGeom prst="rect">
            <a:avLst/>
          </a:prstGeom>
          <a:solidFill>
            <a:srgbClr val="F5F8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10634472" cy="4754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120" y="1911096"/>
            <a:ext cx="219456" cy="219456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1911096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508760" y="1911096"/>
            <a:ext cx="219456" cy="219456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5960" y="1856232"/>
            <a:ext cx="9079992" cy="329184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4560" y="1856232"/>
            <a:ext cx="871423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https://exams.tertiaryinfotech.com/practice-exams/comptia/comptia-cloud-plus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560320"/>
            <a:ext cx="97200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61B26"/>
                </a:solidFill>
                <a:latin typeface="Arial"/>
              </a:rPr>
              <a:t>Practice Exam — CompTIA Cloud+ (CV0-004)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Free timed practice questions with worked explanations for every answer.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4069080"/>
            <a:ext cx="245287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29359" y="43251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29359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Open the Tertiary Infotech practice exam portal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4398" y="468630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04438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04438" y="4069080"/>
            <a:ext cx="245287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56557" y="43251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6557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41598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Attempt the CompTIA Cloud+ practice exam under timed conditions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11596" y="468630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1636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1636" y="4069080"/>
            <a:ext cx="245287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183755" y="43251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83755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8796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Review every explanation — right and wrong answers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8794" y="4686300"/>
            <a:ext cx="365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58834" y="4069080"/>
            <a:ext cx="2452878" cy="17830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58834" y="4069080"/>
            <a:ext cx="2452878" cy="73152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910953" y="4325112"/>
            <a:ext cx="548640" cy="54864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10953" y="4325112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5994" y="5001768"/>
            <a:ext cx="21785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61B26"/>
                </a:solidFill>
                <a:latin typeface="Arial"/>
              </a:rPr>
              <a:t>Revisit any lab whose topic you missed, then re-take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556</a:t>
            </a:r>
          </a:p>
        </p:txBody>
      </p:sp>
    </p:spTree>
  </p:cSld>
  <p:clrMapOvr>
    <a:masterClrMapping/>
  </p:clrMapOvr>
</p:sld>
</file>

<file path=ppt/slides/slide5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WRAP-UP · 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783080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14984" y="2183892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9928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Written Assessment (WA)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1 hour of open-ended knowledge questions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1783080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1636" y="1783080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69380" y="2183892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9380" y="218389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4324" y="1892808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Practical Performance (PP)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1 hour of hands-on tasks from the labs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3334512"/>
            <a:ext cx="91440" cy="1331976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14984" y="3735324"/>
            <a:ext cx="530352" cy="530352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4984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Open book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Slides, Learner Guide and approved materials only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1636" y="3334512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31636" y="3334512"/>
            <a:ext cx="91440" cy="13319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69380" y="3735324"/>
            <a:ext cx="530352" cy="53035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9380" y="37353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4324" y="3444240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Digital attendance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Remember to take the Assessment attendance (TRAQOM · SSG)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885944"/>
            <a:ext cx="91440" cy="1331976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4984" y="5286756"/>
            <a:ext cx="530352" cy="530352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4984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09928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Submit on the LMS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lms-tms.tertiaryinfotech.com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31636" y="4885944"/>
            <a:ext cx="5180076" cy="1331976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31636" y="4885944"/>
            <a:ext cx="91440" cy="133197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69380" y="5286756"/>
            <a:ext cx="530352" cy="530352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69380" y="528675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4324" y="4995672"/>
            <a:ext cx="4027932" cy="1149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61B26"/>
                </a:solidFill>
                <a:latin typeface="Arial"/>
              </a:rPr>
              <a:t>Result</a:t>
            </a:r>
          </a:p>
          <a:p>
            <a:pPr algn="l">
              <a:spcAft>
                <a:spcPts val="2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Competent (C) in both instruments is required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557</a:t>
            </a:r>
          </a:p>
        </p:txBody>
      </p:sp>
    </p:spTree>
  </p:cSld>
  <p:clrMapOvr>
    <a:masterClrMapping/>
  </p:clrMapOvr>
</p:sld>
</file>

<file path=ppt/slides/slide5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ON ASSESSMENT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Assessment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41424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1424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TRAQOM — scan the QR code on the LMS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8841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66313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66313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530497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30497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12617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Assessment digital attendance — scan the SSG QR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791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55386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55386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9570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9570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1690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Sit WA then PP — open 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6987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459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44459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08643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086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0763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Submit your answers on the LMS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606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21D2E"/>
                </a:solidFill>
                <a:latin typeface="Arial"/>
              </a:rPr>
              <a:t>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33532" y="2331720"/>
            <a:ext cx="1878177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33532" y="2331720"/>
            <a:ext cx="1878177" cy="91440"/>
          </a:xfrm>
          <a:prstGeom prst="rect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097716" y="2715768"/>
            <a:ext cx="749808" cy="749808"/>
          </a:xfrm>
          <a:prstGeom prst="ellipse">
            <a:avLst/>
          </a:prstGeom>
          <a:solidFill>
            <a:srgbClr val="E2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97716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79836" y="3749040"/>
            <a:ext cx="1585569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Sign the Assessment Summary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558</a:t>
            </a:r>
          </a:p>
        </p:txBody>
      </p:sp>
    </p:spTree>
  </p:cSld>
  <p:clrMapOvr>
    <a:masterClrMapping/>
  </p:clrMapOvr>
</p:sld>
</file>

<file path=ppt/slides/slide5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141732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822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54480"/>
            <a:ext cx="10634472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5059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059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AM, PM and Assessment attendance is mandatory for WSQ-funded courses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6110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13582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13582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51401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1401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9886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The trainer displays the SSG digital attendance QR code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02452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49924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49924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087743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7743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6228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Scan it with your phone camera and submit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38794" y="3543300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86266" y="2331720"/>
            <a:ext cx="2425446" cy="2971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86266" y="2331720"/>
            <a:ext cx="2425446" cy="9144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824085" y="2715768"/>
            <a:ext cx="749808" cy="749808"/>
          </a:xfrm>
          <a:prstGeom prst="ellipse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4085" y="2715768"/>
            <a:ext cx="749808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2570" y="3749040"/>
            <a:ext cx="2132838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0">
                <a:solidFill>
                  <a:srgbClr val="161B26"/>
                </a:solidFill>
                <a:latin typeface="Arial"/>
              </a:rPr>
              <a:t>Keep attendance at 75% or above to stay eligible for funding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559</a:t>
            </a:r>
          </a:p>
        </p:txBody>
      </p:sp>
    </p:spTree>
  </p:cSld>
  <p:clrMapOvr>
    <a:masterClrMapping/>
  </p:clrMapOvr>
</p:sld>
</file>

<file path=ppt/slides/slide5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011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Arial"/>
              </a:rPr>
              <a:t>ALL THE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103327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4480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0">
                <a:solidFill>
                  <a:srgbClr val="5B6372"/>
                </a:solidFill>
                <a:latin typeface="Arial"/>
              </a:rPr>
              <a:t>You are now ready to build, run, secure and troubleshoot the cloud — and to sit the CompTIA Cloud+ CV0-004 exam.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CompTIA Cloud+ (CV0-004)  ·  TGS-2024049214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6446520"/>
            <a:ext cx="3017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46520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B6372"/>
                </a:solidFill>
                <a:latin typeface="Arial"/>
              </a:rPr>
              <a:t>560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